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2" r:id="rId7"/>
    <p:sldId id="261" r:id="rId8"/>
    <p:sldId id="268" r:id="rId9"/>
    <p:sldId id="269" r:id="rId10"/>
    <p:sldId id="263" r:id="rId11"/>
    <p:sldId id="264" r:id="rId12"/>
    <p:sldId id="265" r:id="rId13"/>
    <p:sldId id="266" r:id="rId14"/>
    <p:sldId id="267"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75" d="100"/>
          <a:sy n="75" d="100"/>
        </p:scale>
        <p:origin x="324" y="-2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fr-FR"/>
              <a:t>Modifiez le style du titre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EBB3AEE8-3EC3-44A2-86E6-306757BFC25E}" type="datetimeFigureOut">
              <a:rPr lang="fr-FR" smtClean="0"/>
              <a:t>23/06/2026</a:t>
            </a:fld>
            <a:endParaRPr lang="fr-FR"/>
          </a:p>
        </p:txBody>
      </p:sp>
      <p:sp>
        <p:nvSpPr>
          <p:cNvPr id="5" name="Footer Placeholder 4"/>
          <p:cNvSpPr>
            <a:spLocks noGrp="1"/>
          </p:cNvSpPr>
          <p:nvPr>
            <p:ph type="ftr" sz="quarter" idx="11"/>
          </p:nvPr>
        </p:nvSpPr>
        <p:spPr>
          <a:xfrm>
            <a:off x="2416500" y="329307"/>
            <a:ext cx="4973915" cy="309201"/>
          </a:xfrm>
        </p:spPr>
        <p:txBody>
          <a:bodyPr/>
          <a:lstStyle/>
          <a:p>
            <a:endParaRPr lang="fr-FR"/>
          </a:p>
        </p:txBody>
      </p:sp>
      <p:sp>
        <p:nvSpPr>
          <p:cNvPr id="6" name="Slide Number Placeholder 5"/>
          <p:cNvSpPr>
            <a:spLocks noGrp="1"/>
          </p:cNvSpPr>
          <p:nvPr>
            <p:ph type="sldNum" sz="quarter" idx="12"/>
          </p:nvPr>
        </p:nvSpPr>
        <p:spPr>
          <a:xfrm>
            <a:off x="1437664" y="798973"/>
            <a:ext cx="811019" cy="503578"/>
          </a:xfrm>
        </p:spPr>
        <p:txBody>
          <a:bodyPr/>
          <a:lstStyle/>
          <a:p>
            <a:fld id="{424FC5F9-5A6F-484B-B384-F90DF68339B3}" type="slidenum">
              <a:rPr lang="fr-FR" smtClean="0"/>
              <a:t>‹N°›</a:t>
            </a:fld>
            <a:endParaRPr lang="fr-FR"/>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693766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ncho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EBB3AEE8-3EC3-44A2-86E6-306757BFC25E}" type="datetimeFigureOut">
              <a:rPr lang="fr-FR" smtClean="0"/>
              <a:t>23/06/2026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424FC5F9-5A6F-484B-B384-F90DF68339B3}" type="slidenum">
              <a:rPr lang="fr-FR" smtClean="0"/>
              <a:t>‹N°›</a:t>
            </a:fld>
            <a:endParaRPr lang="fr-FR"/>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6814954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fr-FR"/>
              <a:t>Modifiez le style du titre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EBB3AEE8-3EC3-44A2-86E6-306757BFC25E}" type="datetimeFigureOut">
              <a:rPr lang="fr-FR" smtClean="0"/>
              <a:t>23/06/2026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424FC5F9-5A6F-484B-B384-F90DF68339B3}" type="slidenum">
              <a:rPr lang="fr-FR" smtClean="0"/>
              <a:t>‹N°›</a:t>
            </a:fld>
            <a:endParaRPr lang="fr-FR"/>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0552243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fr-FR"/>
              <a:t>Modifiez le style du titre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EBB3AEE8-3EC3-44A2-86E6-306757BFC25E}" type="datetimeFigureOut">
              <a:rPr lang="fr-FR" smtClean="0"/>
              <a:t>23/06/2026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424FC5F9-5A6F-484B-B384-F90DF68339B3}" type="slidenum">
              <a:rPr lang="fr-FR" smtClean="0"/>
              <a:t>‹N°›</a:t>
            </a:fld>
            <a:endParaRPr lang="fr-FR"/>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67381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fr-FR"/>
              <a:t>Modifiez le style du titre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1447191" y="2824269"/>
            <a:ext cx="4645152" cy="2644457"/>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412362" y="2821491"/>
            <a:ext cx="4645152" cy="2637371"/>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EBB3AEE8-3EC3-44A2-86E6-306757BFC25E}" type="datetimeFigureOut">
              <a:rPr lang="fr-FR" smtClean="0"/>
              <a:t>23/06/2026</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424FC5F9-5A6F-484B-B384-F90DF68339B3}" type="slidenum">
              <a:rPr lang="fr-FR" smtClean="0"/>
              <a:t>‹N°›</a:t>
            </a:fld>
            <a:endParaRPr lang="fr-FR"/>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1694308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EBB3AEE8-3EC3-44A2-86E6-306757BFC25E}" type="datetimeFigureOut">
              <a:rPr lang="fr-FR" smtClean="0"/>
              <a:t>23/06/2026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424FC5F9-5A6F-484B-B384-F90DF68339B3}" type="slidenum">
              <a:rPr lang="fr-FR" smtClean="0"/>
              <a:t>‹N°›</a:t>
            </a:fld>
            <a:endParaRPr lang="fr-FR"/>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144285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BB3AEE8-3EC3-44A2-86E6-306757BFC25E}" type="datetimeFigureOut">
              <a:rPr lang="fr-FR" smtClean="0"/>
              <a:t>23/06/2026</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424FC5F9-5A6F-484B-B384-F90DF68339B3}" type="slidenum">
              <a:rPr lang="fr-FR" smtClean="0"/>
              <a:t>‹N°›</a:t>
            </a:fld>
            <a:endParaRPr lang="fr-FR"/>
          </a:p>
        </p:txBody>
      </p:sp>
    </p:spTree>
    <p:extLst>
      <p:ext uri="{BB962C8B-B14F-4D97-AF65-F5344CB8AC3E}">
        <p14:creationId xmlns:p14="http://schemas.microsoft.com/office/powerpoint/2010/main" val="2114406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fr-FR"/>
              <a:t>Modifiez le style du titre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EBB3AEE8-3EC3-44A2-86E6-306757BFC25E}" type="datetimeFigureOut">
              <a:rPr lang="fr-FR" smtClean="0"/>
              <a:t>23/06/2026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424FC5F9-5A6F-484B-B384-F90DF68339B3}" type="slidenum">
              <a:rPr lang="fr-FR" smtClean="0"/>
              <a:t>‹N°›</a:t>
            </a:fld>
            <a:endParaRPr lang="fr-FR"/>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3217675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EBB3AEE8-3EC3-44A2-86E6-306757BFC25E}" type="datetimeFigureOut">
              <a:rPr lang="fr-FR" smtClean="0"/>
              <a:t>23/06/2026</a:t>
            </a:fld>
            <a:endParaRPr lang="fr-FR"/>
          </a:p>
        </p:txBody>
      </p:sp>
      <p:sp>
        <p:nvSpPr>
          <p:cNvPr id="6" name="Footer Placeholder 5"/>
          <p:cNvSpPr>
            <a:spLocks noGrp="1"/>
          </p:cNvSpPr>
          <p:nvPr>
            <p:ph type="ftr" sz="quarter" idx="11"/>
          </p:nvPr>
        </p:nvSpPr>
        <p:spPr>
          <a:xfrm>
            <a:off x="1447382" y="318640"/>
            <a:ext cx="5541004" cy="320931"/>
          </a:xfrm>
        </p:spPr>
        <p:txBody>
          <a:bodyPr/>
          <a:lstStyle/>
          <a:p>
            <a:endParaRPr lang="fr-FR"/>
          </a:p>
        </p:txBody>
      </p:sp>
      <p:sp>
        <p:nvSpPr>
          <p:cNvPr id="7" name="Slide Number Placeholder 6"/>
          <p:cNvSpPr>
            <a:spLocks noGrp="1"/>
          </p:cNvSpPr>
          <p:nvPr>
            <p:ph type="sldNum" sz="quarter" idx="12"/>
          </p:nvPr>
        </p:nvSpPr>
        <p:spPr/>
        <p:txBody>
          <a:bodyPr/>
          <a:lstStyle/>
          <a:p>
            <a:fld id="{424FC5F9-5A6F-484B-B384-F90DF68339B3}" type="slidenum">
              <a:rPr lang="fr-FR" smtClean="0"/>
              <a:t>‹N°›</a:t>
            </a:fld>
            <a:endParaRPr lang="fr-FR"/>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535113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EBB3AEE8-3EC3-44A2-86E6-306757BFC25E}" type="datetimeFigureOut">
              <a:rPr lang="fr-FR" smtClean="0"/>
              <a:t>23/06/2026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424FC5F9-5A6F-484B-B384-F90DF68339B3}" type="slidenum">
              <a:rPr lang="fr-FR" smtClean="0"/>
              <a:t>‹N°›</a:t>
            </a:fld>
            <a:endParaRPr lang="fr-FR"/>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413065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fr-FR"/>
              <a:t>Modifiez le style du titre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EBB3AEE8-3EC3-44A2-86E6-306757BFC25E}" type="datetimeFigureOut">
              <a:rPr lang="fr-FR" smtClean="0"/>
              <a:t>23/06/2026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424FC5F9-5A6F-484B-B384-F90DF68339B3}" type="slidenum">
              <a:rPr lang="fr-FR" smtClean="0"/>
              <a:t>‹N°›</a:t>
            </a:fld>
            <a:endParaRPr lang="fr-FR"/>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918413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fr-FR"/>
              <a:t>Modifiez le style du titre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EBB3AEE8-3EC3-44A2-86E6-306757BFC25E}" type="datetimeFigureOut">
              <a:rPr lang="fr-FR" smtClean="0"/>
              <a:t>23/06/2026</a:t>
            </a:fld>
            <a:endParaRPr lang="fr-FR"/>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fr-FR"/>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424FC5F9-5A6F-484B-B384-F90DF68339B3}" type="slidenum">
              <a:rPr lang="fr-FR" smtClean="0"/>
              <a:t>‹N°›</a:t>
            </a:fld>
            <a:endParaRPr lang="fr-FR"/>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24676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diao91627-coder.github.io/Aissatou_DIAO_AfriTalent/"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B890A8A-31F7-4E60-8F48-2F4DEB0D300A}"/>
              </a:ext>
            </a:extLst>
          </p:cNvPr>
          <p:cNvSpPr>
            <a:spLocks noGrp="1"/>
          </p:cNvSpPr>
          <p:nvPr>
            <p:ph type="ctrTitle"/>
          </p:nvPr>
        </p:nvSpPr>
        <p:spPr>
          <a:xfrm>
            <a:off x="2417779" y="802298"/>
            <a:ext cx="8637073" cy="2563202"/>
          </a:xfrm>
        </p:spPr>
        <p:txBody>
          <a:bodyPr/>
          <a:lstStyle/>
          <a:p>
            <a:pPr algn="ctr"/>
            <a:r>
              <a:rPr lang="en-US" b="1" dirty="0">
                <a:latin typeface="Times New Roman" panose="02020603050405020304" pitchFamily="18" charset="0"/>
                <a:cs typeface="Times New Roman" panose="02020603050405020304" pitchFamily="18" charset="0"/>
              </a:rPr>
              <a:t>.AfriTalent</a:t>
            </a:r>
            <a:endParaRPr lang="fr-FR" b="1" dirty="0">
              <a:latin typeface="Times New Roman" panose="02020603050405020304" pitchFamily="18" charset="0"/>
              <a:cs typeface="Times New Roman" panose="02020603050405020304" pitchFamily="18" charset="0"/>
            </a:endParaRPr>
          </a:p>
        </p:txBody>
      </p:sp>
      <p:sp>
        <p:nvSpPr>
          <p:cNvPr id="3" name="Sous-titre 2">
            <a:extLst>
              <a:ext uri="{FF2B5EF4-FFF2-40B4-BE49-F238E27FC236}">
                <a16:creationId xmlns:a16="http://schemas.microsoft.com/office/drawing/2014/main" id="{AF21D0B1-C2C8-4600-8CF1-81D4A740A7A9}"/>
              </a:ext>
            </a:extLst>
          </p:cNvPr>
          <p:cNvSpPr>
            <a:spLocks noGrp="1"/>
          </p:cNvSpPr>
          <p:nvPr>
            <p:ph type="subTitle" idx="1"/>
          </p:nvPr>
        </p:nvSpPr>
        <p:spPr>
          <a:xfrm>
            <a:off x="2417779" y="3514272"/>
            <a:ext cx="8637072" cy="1815496"/>
          </a:xfrm>
        </p:spPr>
        <p:txBody>
          <a:bodyPr>
            <a:normAutofit fontScale="25000" lnSpcReduction="20000"/>
          </a:bodyPr>
          <a:lstStyle/>
          <a:p>
            <a:pPr algn="just"/>
            <a:r>
              <a:rPr lang="en-US" sz="11200" dirty="0">
                <a:latin typeface="Times New Roman" panose="02020603050405020304" pitchFamily="18" charset="0"/>
                <a:cs typeface="Times New Roman" panose="02020603050405020304" pitchFamily="18" charset="0"/>
              </a:rPr>
              <a:t>AISSATOU WOURY DIAO</a:t>
            </a:r>
          </a:p>
          <a:p>
            <a:pPr algn="just"/>
            <a:r>
              <a:rPr lang="en-US" sz="11200" dirty="0">
                <a:latin typeface="Times New Roman" panose="02020603050405020304" pitchFamily="18" charset="0"/>
                <a:cs typeface="Times New Roman" panose="02020603050405020304" pitchFamily="18" charset="0"/>
              </a:rPr>
              <a:t>L1 IAGE-ISI</a:t>
            </a:r>
          </a:p>
          <a:p>
            <a:pPr algn="just"/>
            <a:r>
              <a:rPr lang="en-US" sz="11200" dirty="0">
                <a:latin typeface="Times New Roman" panose="02020603050405020304" pitchFamily="18" charset="0"/>
                <a:cs typeface="Times New Roman" panose="02020603050405020304" pitchFamily="18" charset="0"/>
              </a:rPr>
              <a:t>17/ juin /2026</a:t>
            </a:r>
          </a:p>
          <a:p>
            <a:pPr algn="just"/>
            <a:endParaRPr lang="en-US" sz="11200" dirty="0">
              <a:latin typeface="Times New Roman" panose="02020603050405020304" pitchFamily="18" charset="0"/>
              <a:cs typeface="Times New Roman" panose="02020603050405020304" pitchFamily="18" charset="0"/>
            </a:endParaRPr>
          </a:p>
          <a:p>
            <a:pPr algn="just"/>
            <a:endParaRPr lang="fr-FR" sz="11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59065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0B6C6FB-DE93-471A-A9EE-6CF3F627251A}"/>
              </a:ext>
            </a:extLst>
          </p:cNvPr>
          <p:cNvSpPr>
            <a:spLocks noGrp="1"/>
          </p:cNvSpPr>
          <p:nvPr>
            <p:ph type="title"/>
          </p:nvPr>
        </p:nvSpPr>
        <p:spPr/>
        <p:txBody>
          <a:bodyPr>
            <a:normAutofit/>
          </a:bodyPr>
          <a:lstStyle/>
          <a:p>
            <a:pPr algn="ctr"/>
            <a:r>
              <a:rPr lang="en-US" sz="6600" b="1" dirty="0">
                <a:latin typeface="Times New Roman" panose="02020603050405020304" pitchFamily="18" charset="0"/>
                <a:cs typeface="Times New Roman" panose="02020603050405020304" pitchFamily="18" charset="0"/>
              </a:rPr>
              <a:t>.SOMMAIRE</a:t>
            </a:r>
            <a:endParaRPr lang="fr-FR" sz="6600" b="1" dirty="0">
              <a:latin typeface="Times New Roman" panose="02020603050405020304" pitchFamily="18" charset="0"/>
              <a:cs typeface="Times New Roman" panose="02020603050405020304" pitchFamily="18" charset="0"/>
            </a:endParaRPr>
          </a:p>
        </p:txBody>
      </p:sp>
      <p:sp>
        <p:nvSpPr>
          <p:cNvPr id="3" name="Espace réservé du contenu 2">
            <a:extLst>
              <a:ext uri="{FF2B5EF4-FFF2-40B4-BE49-F238E27FC236}">
                <a16:creationId xmlns:a16="http://schemas.microsoft.com/office/drawing/2014/main" id="{55375984-0D6E-4807-8614-0173811AAD8E}"/>
              </a:ext>
            </a:extLst>
          </p:cNvPr>
          <p:cNvSpPr>
            <a:spLocks noGrp="1"/>
          </p:cNvSpPr>
          <p:nvPr>
            <p:ph idx="1"/>
          </p:nvPr>
        </p:nvSpPr>
        <p:spPr/>
        <p:txBody>
          <a:bodyPr>
            <a:normAutofit fontScale="85000" lnSpcReduction="20000"/>
          </a:bodyPr>
          <a:lstStyle/>
          <a:p>
            <a:r>
              <a:rPr lang="en-US" dirty="0">
                <a:latin typeface="Times New Roman" panose="02020603050405020304" pitchFamily="18" charset="0"/>
                <a:cs typeface="Times New Roman" panose="02020603050405020304" pitchFamily="18" charset="0"/>
              </a:rPr>
              <a:t>Presentation du projet: context, objectif, public cible</a:t>
            </a:r>
          </a:p>
          <a:p>
            <a:r>
              <a:rPr lang="en-US" dirty="0">
                <a:latin typeface="Times New Roman" panose="02020603050405020304" pitchFamily="18" charset="0"/>
                <a:cs typeface="Times New Roman" panose="02020603050405020304" pitchFamily="18" charset="0"/>
              </a:rPr>
              <a:t>Choix de design: palette(code hex ),police(justification),inspirations</a:t>
            </a:r>
          </a:p>
          <a:p>
            <a:r>
              <a:rPr lang="fr-FR" dirty="0">
                <a:latin typeface="Times New Roman" panose="02020603050405020304" pitchFamily="18" charset="0"/>
                <a:cs typeface="Times New Roman" panose="02020603050405020304" pitchFamily="18" charset="0"/>
              </a:rPr>
              <a:t>Architecture du site</a:t>
            </a:r>
          </a:p>
          <a:p>
            <a:r>
              <a:rPr lang="fr-FR" dirty="0">
                <a:latin typeface="Times New Roman" panose="02020603050405020304" pitchFamily="18" charset="0"/>
                <a:cs typeface="Times New Roman" panose="02020603050405020304" pitchFamily="18" charset="0"/>
              </a:rPr>
              <a:t>Points techniques</a:t>
            </a:r>
          </a:p>
          <a:p>
            <a:r>
              <a:rPr lang="fr-FR" dirty="0">
                <a:latin typeface="Times New Roman" panose="02020603050405020304" pitchFamily="18" charset="0"/>
                <a:cs typeface="Times New Roman" panose="02020603050405020304" pitchFamily="18" charset="0"/>
              </a:rPr>
              <a:t>GitHub et déploiement</a:t>
            </a:r>
          </a:p>
          <a:p>
            <a:r>
              <a:rPr lang="fr-FR" dirty="0">
                <a:latin typeface="Times New Roman" panose="02020603050405020304" pitchFamily="18" charset="0"/>
                <a:cs typeface="Times New Roman" panose="02020603050405020304" pitchFamily="18" charset="0"/>
              </a:rPr>
              <a:t>Difficultés rencontrees</a:t>
            </a:r>
          </a:p>
          <a:p>
            <a:r>
              <a:rPr lang="fr-FR" dirty="0">
                <a:latin typeface="Times New Roman" panose="02020603050405020304" pitchFamily="18" charset="0"/>
                <a:cs typeface="Times New Roman" panose="02020603050405020304" pitchFamily="18" charset="0"/>
              </a:rPr>
              <a:t>Resources utilisees</a:t>
            </a:r>
          </a:p>
          <a:p>
            <a:r>
              <a:rPr lang="fr-FR" dirty="0">
                <a:latin typeface="Times New Roman" panose="02020603050405020304" pitchFamily="18" charset="0"/>
                <a:cs typeface="Times New Roman" panose="02020603050405020304" pitchFamily="18" charset="0"/>
              </a:rPr>
              <a:t>Demonstration</a:t>
            </a:r>
          </a:p>
          <a:p>
            <a:r>
              <a:rPr lang="fr-FR" dirty="0">
                <a:latin typeface="Times New Roman" panose="02020603050405020304" pitchFamily="18" charset="0"/>
                <a:cs typeface="Times New Roman" panose="02020603050405020304" pitchFamily="18" charset="0"/>
              </a:rPr>
              <a:t>Conclusion</a:t>
            </a:r>
          </a:p>
          <a:p>
            <a:endParaRPr lang="fr-FR"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31271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9DCC598-D2E5-4EAE-90BF-8B7A7F6B06ED}"/>
              </a:ext>
            </a:extLst>
          </p:cNvPr>
          <p:cNvSpPr>
            <a:spLocks noGrp="1"/>
          </p:cNvSpPr>
          <p:nvPr>
            <p:ph type="title"/>
          </p:nvPr>
        </p:nvSpPr>
        <p:spPr>
          <a:xfrm>
            <a:off x="666751" y="342420"/>
            <a:ext cx="10331449" cy="1049235"/>
          </a:xfrm>
        </p:spPr>
        <p:txBody>
          <a:bodyPr>
            <a:noAutofit/>
          </a:bodyPr>
          <a:lstStyle/>
          <a:p>
            <a:r>
              <a:rPr lang="en-US" sz="5400" b="1" dirty="0">
                <a:latin typeface="Times New Roman" panose="02020603050405020304" pitchFamily="18" charset="0"/>
                <a:cs typeface="Times New Roman" panose="02020603050405020304" pitchFamily="18" charset="0"/>
              </a:rPr>
              <a:t>Presentation du PROJET</a:t>
            </a:r>
            <a:endParaRPr lang="fr-FR" sz="5400" b="1" dirty="0">
              <a:latin typeface="Times New Roman" panose="02020603050405020304" pitchFamily="18" charset="0"/>
              <a:cs typeface="Times New Roman" panose="02020603050405020304" pitchFamily="18" charset="0"/>
            </a:endParaRPr>
          </a:p>
        </p:txBody>
      </p:sp>
      <p:sp>
        <p:nvSpPr>
          <p:cNvPr id="3" name="Espace réservé du contenu 2">
            <a:extLst>
              <a:ext uri="{FF2B5EF4-FFF2-40B4-BE49-F238E27FC236}">
                <a16:creationId xmlns:a16="http://schemas.microsoft.com/office/drawing/2014/main" id="{00BFA8BB-661B-420A-AD75-3FF8629B1AE3}"/>
              </a:ext>
            </a:extLst>
          </p:cNvPr>
          <p:cNvSpPr>
            <a:spLocks noGrp="1"/>
          </p:cNvSpPr>
          <p:nvPr>
            <p:ph idx="1"/>
          </p:nvPr>
        </p:nvSpPr>
        <p:spPr>
          <a:xfrm>
            <a:off x="930879" y="2015732"/>
            <a:ext cx="9603275" cy="3450613"/>
          </a:xfrm>
        </p:spPr>
        <p:txBody>
          <a:bodyPr>
            <a:normAutofit/>
          </a:bodyPr>
          <a:lstStyle/>
          <a:p>
            <a:pPr algn="just"/>
            <a:r>
              <a:rPr lang="fr-FR" dirty="0">
                <a:latin typeface="Times New Roman" panose="02020603050405020304" pitchFamily="18" charset="0"/>
                <a:cs typeface="Times New Roman" panose="02020603050405020304" pitchFamily="18" charset="0"/>
              </a:rPr>
              <a:t>“AfriTalent est une plateforme web qui met en relation des freelances africains et des entreprises. Le but est de valoriser les talents africains, faciliter l’accès aux missions et créer des opportunités professionnelles. Le public ciblé est constitué des freelances, des entreprises et des jeunes talents souhaitant travailler dans le numérique.”</a:t>
            </a:r>
          </a:p>
          <a:p>
            <a:pPr algn="just"/>
            <a:endParaRPr lang="fr-FR"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125950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45D268-4907-4BF4-816D-F16147035B03}"/>
              </a:ext>
            </a:extLst>
          </p:cNvPr>
          <p:cNvSpPr>
            <a:spLocks noGrp="1"/>
          </p:cNvSpPr>
          <p:nvPr>
            <p:ph type="title"/>
          </p:nvPr>
        </p:nvSpPr>
        <p:spPr/>
        <p:txBody>
          <a:bodyPr>
            <a:normAutofit/>
          </a:bodyPr>
          <a:lstStyle/>
          <a:p>
            <a:pPr algn="ctr"/>
            <a:r>
              <a:rPr lang="en-US" sz="6600" dirty="0"/>
              <a:t>CHOIX DE DESIGN</a:t>
            </a:r>
            <a:endParaRPr lang="fr-FR" sz="6600" dirty="0"/>
          </a:p>
        </p:txBody>
      </p:sp>
      <p:sp>
        <p:nvSpPr>
          <p:cNvPr id="6" name="Rectangle 3">
            <a:extLst>
              <a:ext uri="{FF2B5EF4-FFF2-40B4-BE49-F238E27FC236}">
                <a16:creationId xmlns:a16="http://schemas.microsoft.com/office/drawing/2014/main" id="{86A5090D-B823-4755-B16E-F24CDE95ABB2}"/>
              </a:ext>
            </a:extLst>
          </p:cNvPr>
          <p:cNvSpPr>
            <a:spLocks noGrp="1" noChangeArrowheads="1"/>
          </p:cNvSpPr>
          <p:nvPr>
            <p:ph idx="1"/>
          </p:nvPr>
        </p:nvSpPr>
        <p:spPr bwMode="auto">
          <a:xfrm>
            <a:off x="438150" y="2220187"/>
            <a:ext cx="9345319" cy="1477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just" eaLnBrk="0" fontAlgn="base" hangingPunct="0">
              <a:lnSpc>
                <a:spcPct val="100000"/>
              </a:lnSpc>
              <a:spcBef>
                <a:spcPct val="0"/>
              </a:spcBef>
              <a:spcAft>
                <a:spcPct val="0"/>
              </a:spcAft>
              <a:buClrTx/>
              <a:buSzTx/>
            </a:pPr>
            <a:r>
              <a:rPr kumimoji="0" lang="fr-FR" altLang="fr-FR" sz="1800" b="0" i="0" u="none" strike="noStrike" cap="none" normalizeH="0" baseline="0" dirty="0">
                <a:ln>
                  <a:noFill/>
                </a:ln>
                <a:solidFill>
                  <a:schemeClr val="tx1">
                    <a:lumMod val="85000"/>
                    <a:lumOff val="15000"/>
                  </a:schemeClr>
                </a:solidFill>
                <a:effectLst/>
                <a:latin typeface="Times New Roman" panose="02020603050405020304" pitchFamily="18" charset="0"/>
                <a:cs typeface="Times New Roman" panose="02020603050405020304" pitchFamily="18" charset="0"/>
              </a:rPr>
              <a:t>“Pour le design, j’ai choisi une palette dominée par le bleu #0d6efd</a:t>
            </a:r>
          </a:p>
          <a:p>
            <a:pPr algn="just" eaLnBrk="0" fontAlgn="base" hangingPunct="0">
              <a:lnSpc>
                <a:spcPct val="100000"/>
              </a:lnSpc>
              <a:spcBef>
                <a:spcPct val="0"/>
              </a:spcBef>
              <a:spcAft>
                <a:spcPct val="0"/>
              </a:spcAft>
              <a:buClrTx/>
              <a:buSzTx/>
            </a:pPr>
            <a:r>
              <a:rPr kumimoji="0" lang="fr-FR" altLang="fr-FR" sz="1800" b="0" i="0" u="none" strike="noStrike" cap="none" normalizeH="0" baseline="0" dirty="0">
                <a:ln>
                  <a:noFill/>
                </a:ln>
                <a:solidFill>
                  <a:schemeClr val="tx1">
                    <a:lumMod val="85000"/>
                    <a:lumOff val="15000"/>
                  </a:schemeClr>
                </a:solidFill>
                <a:effectLst/>
                <a:latin typeface="Times New Roman" panose="02020603050405020304" pitchFamily="18" charset="0"/>
                <a:cs typeface="Times New Roman" panose="02020603050405020304" pitchFamily="18" charset="0"/>
              </a:rPr>
              <a:t> pour représenter la confiance et le numérique, avec le jaune #ffc107 comme couleur d’accent.</a:t>
            </a:r>
          </a:p>
          <a:p>
            <a:pPr algn="just" eaLnBrk="0" fontAlgn="base" hangingPunct="0">
              <a:lnSpc>
                <a:spcPct val="100000"/>
              </a:lnSpc>
              <a:spcBef>
                <a:spcPct val="0"/>
              </a:spcBef>
              <a:spcAft>
                <a:spcPct val="0"/>
              </a:spcAft>
              <a:buClrTx/>
              <a:buSzTx/>
            </a:pPr>
            <a:r>
              <a:rPr kumimoji="0" lang="fr-FR" altLang="fr-FR" sz="1800" b="0" i="0" u="none" strike="noStrike" cap="none" normalizeH="0" baseline="0" dirty="0">
                <a:ln>
                  <a:noFill/>
                </a:ln>
                <a:solidFill>
                  <a:schemeClr val="tx1">
                    <a:lumMod val="85000"/>
                    <a:lumOff val="15000"/>
                  </a:schemeClr>
                </a:solidFill>
                <a:effectLst/>
                <a:latin typeface="Times New Roman" panose="02020603050405020304" pitchFamily="18" charset="0"/>
                <a:cs typeface="Times New Roman" panose="02020603050405020304" pitchFamily="18" charset="0"/>
              </a:rPr>
              <a:t> J’ai utilisé Poppins pour les titres et Inter pour les textes afin d’améliorer la lisibilité.</a:t>
            </a:r>
          </a:p>
          <a:p>
            <a:pPr algn="just" eaLnBrk="0" fontAlgn="base" hangingPunct="0">
              <a:lnSpc>
                <a:spcPct val="100000"/>
              </a:lnSpc>
              <a:spcBef>
                <a:spcPct val="0"/>
              </a:spcBef>
              <a:spcAft>
                <a:spcPct val="0"/>
              </a:spcAft>
              <a:buClrTx/>
              <a:buSzTx/>
            </a:pPr>
            <a:r>
              <a:rPr kumimoji="0" lang="fr-FR" altLang="fr-FR" sz="1800" b="0" i="0" u="none" strike="noStrike" cap="none" normalizeH="0" baseline="0" dirty="0">
                <a:ln>
                  <a:noFill/>
                </a:ln>
                <a:solidFill>
                  <a:schemeClr val="tx1">
                    <a:lumMod val="85000"/>
                    <a:lumOff val="15000"/>
                  </a:schemeClr>
                </a:solidFill>
                <a:effectLst/>
                <a:latin typeface="Times New Roman" panose="02020603050405020304" pitchFamily="18" charset="0"/>
                <a:cs typeface="Times New Roman" panose="02020603050405020304" pitchFamily="18" charset="0"/>
              </a:rPr>
              <a:t> Je me suis inspirée de plateformes comme Upwork, Fiverr et Bootstrap pour créer une interface moderne, professionnelle et responsive.” </a:t>
            </a:r>
          </a:p>
        </p:txBody>
      </p:sp>
    </p:spTree>
    <p:extLst>
      <p:ext uri="{BB962C8B-B14F-4D97-AF65-F5344CB8AC3E}">
        <p14:creationId xmlns:p14="http://schemas.microsoft.com/office/powerpoint/2010/main" val="4039625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36091E-12AF-434E-91D2-99775312E3B5}"/>
              </a:ext>
            </a:extLst>
          </p:cNvPr>
          <p:cNvSpPr>
            <a:spLocks noGrp="1"/>
          </p:cNvSpPr>
          <p:nvPr>
            <p:ph type="title"/>
          </p:nvPr>
        </p:nvSpPr>
        <p:spPr/>
        <p:txBody>
          <a:bodyPr/>
          <a:lstStyle/>
          <a:p>
            <a:r>
              <a:rPr lang="en-US" dirty="0"/>
              <a:t>              ARCHITECTURE</a:t>
            </a:r>
            <a:endParaRPr lang="fr-FR" dirty="0"/>
          </a:p>
        </p:txBody>
      </p:sp>
      <p:sp>
        <p:nvSpPr>
          <p:cNvPr id="3" name="Espace réservé du contenu 2">
            <a:extLst>
              <a:ext uri="{FF2B5EF4-FFF2-40B4-BE49-F238E27FC236}">
                <a16:creationId xmlns:a16="http://schemas.microsoft.com/office/drawing/2014/main" id="{3E6A523B-94DC-46F3-B76E-BE99B9C8341A}"/>
              </a:ext>
            </a:extLst>
          </p:cNvPr>
          <p:cNvSpPr>
            <a:spLocks noGrp="1"/>
          </p:cNvSpPr>
          <p:nvPr>
            <p:ph idx="1"/>
          </p:nvPr>
        </p:nvSpPr>
        <p:spPr>
          <a:xfrm>
            <a:off x="1419014" y="2086221"/>
            <a:ext cx="9603275" cy="4037749"/>
          </a:xfrm>
        </p:spPr>
        <p:txBody>
          <a:bodyPr>
            <a:noAutofit/>
          </a:bodyPr>
          <a:lstStyle/>
          <a:p>
            <a:r>
              <a:rPr lang="fr-FR" sz="900" dirty="0">
                <a:latin typeface="Times New Roman" panose="02020603050405020304" pitchFamily="18" charset="0"/>
                <a:cs typeface="Times New Roman" panose="02020603050405020304" pitchFamily="18" charset="0"/>
              </a:rPr>
              <a:t>OM-</a:t>
            </a:r>
            <a:r>
              <a:rPr lang="fr-FR" sz="900" dirty="0" err="1">
                <a:latin typeface="Times New Roman" panose="02020603050405020304" pitchFamily="18" charset="0"/>
                <a:cs typeface="Times New Roman" panose="02020603050405020304" pitchFamily="18" charset="0"/>
              </a:rPr>
              <a:t>Prenom</a:t>
            </a:r>
            <a:r>
              <a:rPr lang="fr-FR" sz="900" dirty="0">
                <a:latin typeface="Times New Roman" panose="02020603050405020304" pitchFamily="18" charset="0"/>
                <a:cs typeface="Times New Roman" panose="02020603050405020304" pitchFamily="18" charset="0"/>
              </a:rPr>
              <a:t>-AfriTalent/</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 index.html → Page d’accueil</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 freelances.html → Liste des freelances disponibles</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 tarifs.html → Présentation des offres et tarifs</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 about.html → Présentation de la plateforme et de l’équipe</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 contact.html → Formulaire de contact</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 ccs/</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 └── style.css → Fichier contenant tous les styles CSS</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 Js/</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 └── main.js → Code JavaScript pour les interactions</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 images/</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 └── (...) → Logo, avatars, illustrations, photos</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 docs/</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 └── NOM_Prenom_Presentation.pptx</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 → Présentation du projet</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 README.md → Documentation du projet</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a:t>
            </a:r>
            <a:br>
              <a:rPr lang="fr-FR" sz="900" dirty="0">
                <a:latin typeface="Times New Roman" panose="02020603050405020304" pitchFamily="18" charset="0"/>
                <a:cs typeface="Times New Roman" panose="02020603050405020304" pitchFamily="18" charset="0"/>
              </a:rPr>
            </a:br>
            <a:r>
              <a:rPr lang="fr-FR" sz="900" dirty="0">
                <a:latin typeface="Times New Roman" panose="02020603050405020304" pitchFamily="18" charset="0"/>
                <a:cs typeface="Times New Roman" panose="02020603050405020304" pitchFamily="18" charset="0"/>
              </a:rPr>
              <a:t>└── .gitignore → Fichiers ignorés par Git</a:t>
            </a:r>
          </a:p>
        </p:txBody>
      </p:sp>
      <p:pic>
        <p:nvPicPr>
          <p:cNvPr id="7" name="Image 6">
            <a:extLst>
              <a:ext uri="{FF2B5EF4-FFF2-40B4-BE49-F238E27FC236}">
                <a16:creationId xmlns:a16="http://schemas.microsoft.com/office/drawing/2014/main" id="{53EB6A14-7D31-4FBE-BD9F-19F36B09B02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71732" y="2167020"/>
            <a:ext cx="2345276" cy="1388979"/>
          </a:xfrm>
          <a:prstGeom prst="rect">
            <a:avLst/>
          </a:prstGeom>
        </p:spPr>
      </p:pic>
      <p:sp>
        <p:nvSpPr>
          <p:cNvPr id="8" name="ZoneTexte 7">
            <a:extLst>
              <a:ext uri="{FF2B5EF4-FFF2-40B4-BE49-F238E27FC236}">
                <a16:creationId xmlns:a16="http://schemas.microsoft.com/office/drawing/2014/main" id="{6A4176F6-819D-46CC-80DC-43547DC2AEB2}"/>
              </a:ext>
            </a:extLst>
          </p:cNvPr>
          <p:cNvSpPr txBox="1"/>
          <p:nvPr/>
        </p:nvSpPr>
        <p:spPr>
          <a:xfrm>
            <a:off x="10727267" y="3090333"/>
            <a:ext cx="45719" cy="369332"/>
          </a:xfrm>
          <a:prstGeom prst="rect">
            <a:avLst/>
          </a:prstGeom>
          <a:noFill/>
        </p:spPr>
        <p:txBody>
          <a:bodyPr wrap="square" rtlCol="0">
            <a:spAutoFit/>
          </a:bodyPr>
          <a:lstStyle/>
          <a:p>
            <a:endParaRPr lang="fr-FR" dirty="0"/>
          </a:p>
        </p:txBody>
      </p:sp>
      <p:pic>
        <p:nvPicPr>
          <p:cNvPr id="10" name="Image 9">
            <a:extLst>
              <a:ext uri="{FF2B5EF4-FFF2-40B4-BE49-F238E27FC236}">
                <a16:creationId xmlns:a16="http://schemas.microsoft.com/office/drawing/2014/main" id="{5FF3D5DE-7CD9-4FB2-A61F-7B29AF38B9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492826" y="2167020"/>
            <a:ext cx="2514600" cy="1388979"/>
          </a:xfrm>
          <a:prstGeom prst="rect">
            <a:avLst/>
          </a:prstGeom>
        </p:spPr>
      </p:pic>
      <p:pic>
        <p:nvPicPr>
          <p:cNvPr id="12" name="Image 11">
            <a:extLst>
              <a:ext uri="{FF2B5EF4-FFF2-40B4-BE49-F238E27FC236}">
                <a16:creationId xmlns:a16="http://schemas.microsoft.com/office/drawing/2014/main" id="{C17BD30D-1ADF-4A34-B350-CE494F017A3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642228" y="4105096"/>
            <a:ext cx="2514600" cy="1558312"/>
          </a:xfrm>
          <a:prstGeom prst="rect">
            <a:avLst/>
          </a:prstGeom>
        </p:spPr>
      </p:pic>
      <p:pic>
        <p:nvPicPr>
          <p:cNvPr id="14" name="Image 13">
            <a:extLst>
              <a:ext uri="{FF2B5EF4-FFF2-40B4-BE49-F238E27FC236}">
                <a16:creationId xmlns:a16="http://schemas.microsoft.com/office/drawing/2014/main" id="{C5CAFEEA-B8D7-452F-8493-77361B738FC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743704" y="4034606"/>
            <a:ext cx="2201333" cy="1628802"/>
          </a:xfrm>
          <a:prstGeom prst="rect">
            <a:avLst/>
          </a:prstGeom>
        </p:spPr>
      </p:pic>
    </p:spTree>
    <p:extLst>
      <p:ext uri="{BB962C8B-B14F-4D97-AF65-F5344CB8AC3E}">
        <p14:creationId xmlns:p14="http://schemas.microsoft.com/office/powerpoint/2010/main" val="37854646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F8558E7-64B4-4DF7-B336-5F22C850B56C}"/>
              </a:ext>
            </a:extLst>
          </p:cNvPr>
          <p:cNvSpPr>
            <a:spLocks noGrp="1"/>
          </p:cNvSpPr>
          <p:nvPr>
            <p:ph type="title"/>
          </p:nvPr>
        </p:nvSpPr>
        <p:spPr/>
        <p:txBody>
          <a:bodyPr>
            <a:normAutofit/>
          </a:bodyPr>
          <a:lstStyle/>
          <a:p>
            <a:pPr algn="ctr"/>
            <a:r>
              <a:rPr lang="en-US" sz="6600" dirty="0">
                <a:latin typeface="Times New Roman" panose="02020603050405020304" pitchFamily="18" charset="0"/>
                <a:cs typeface="Times New Roman" panose="02020603050405020304" pitchFamily="18" charset="0"/>
              </a:rPr>
              <a:t>GITHUB</a:t>
            </a:r>
            <a:endParaRPr lang="fr-FR" sz="6600" dirty="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15839190-9176-4424-BB9A-9F0F1C167333}"/>
              </a:ext>
            </a:extLst>
          </p:cNvPr>
          <p:cNvSpPr>
            <a:spLocks noGrp="1" noChangeArrowheads="1"/>
          </p:cNvSpPr>
          <p:nvPr>
            <p:ph idx="1"/>
          </p:nvPr>
        </p:nvSpPr>
        <p:spPr bwMode="auto">
          <a:xfrm>
            <a:off x="-875981" y="2586878"/>
            <a:ext cx="13575981"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fr-FR" altLang="fr-FR"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1. Commits</a:t>
            </a:r>
            <a:br>
              <a:rPr kumimoji="0" lang="fr-FR" altLang="fr-FR"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fr-FR" altLang="fr-FR"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-J’ai sauvegardé chaque étape du projet avec des </a:t>
            </a:r>
            <a:r>
              <a:rPr kumimoji="0" lang="fr-FR" altLang="fr-FR" sz="2400" b="0" i="0" u="none" strike="noStrike" cap="none" normalizeH="0" baseline="0" dirty="0" err="1">
                <a:ln>
                  <a:noFill/>
                </a:ln>
                <a:solidFill>
                  <a:schemeClr val="tx1"/>
                </a:solidFill>
                <a:effectLst/>
                <a:latin typeface="Times New Roman" panose="02020603050405020304" pitchFamily="18" charset="0"/>
                <a:cs typeface="Times New Roman" panose="02020603050405020304" pitchFamily="18" charset="0"/>
              </a:rPr>
              <a:t>commits</a:t>
            </a:r>
            <a:r>
              <a:rPr kumimoji="0" lang="fr-FR" altLang="fr-FR"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ctr" defTabSz="914400" rtl="0" eaLnBrk="0" fontAlgn="base" latinLnBrk="0" hangingPunct="0">
              <a:lnSpc>
                <a:spcPct val="100000"/>
              </a:lnSpc>
              <a:spcBef>
                <a:spcPct val="0"/>
              </a:spcBef>
              <a:spcAft>
                <a:spcPct val="0"/>
              </a:spcAft>
              <a:buClrTx/>
              <a:buSzTx/>
              <a:buFontTx/>
              <a:buNone/>
              <a:tabLst/>
            </a:pPr>
            <a:r>
              <a:rPr kumimoji="0" lang="fr-FR" altLang="fr-FR"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2. Workflow Git</a:t>
            </a:r>
            <a:br>
              <a:rPr kumimoji="0" lang="fr-FR" altLang="fr-FR"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br>
            <a:r>
              <a:rPr kumimoji="0" lang="fr-FR" altLang="fr-FR"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-J’ai utilisé </a:t>
            </a:r>
            <a:r>
              <a:rPr kumimoji="0" lang="fr-FR" altLang="fr-FR"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git</a:t>
            </a:r>
            <a:r>
              <a:rPr kumimoji="0" lang="fr-FR" altLang="fr-FR"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fr-FR" altLang="fr-FR"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add</a:t>
            </a:r>
            <a:r>
              <a:rPr kumimoji="0" lang="fr-FR" altLang="fr-FR"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 , </a:t>
            </a:r>
            <a:r>
              <a:rPr kumimoji="0" lang="fr-FR" altLang="fr-FR"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git</a:t>
            </a:r>
            <a:r>
              <a:rPr kumimoji="0" lang="fr-FR" altLang="fr-FR"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fr-FR" altLang="fr-FR"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commit</a:t>
            </a:r>
            <a:r>
              <a:rPr kumimoji="0" lang="fr-FR" altLang="fr-FR"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-m et </a:t>
            </a:r>
            <a:r>
              <a:rPr kumimoji="0" lang="fr-FR" altLang="fr-FR"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git</a:t>
            </a:r>
            <a:r>
              <a:rPr kumimoji="0" lang="fr-FR" altLang="fr-FR"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kumimoji="0" lang="fr-FR" altLang="fr-FR" sz="24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push</a:t>
            </a:r>
            <a:r>
              <a:rPr kumimoji="0" lang="fr-FR" altLang="fr-FR"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t>
            </a:r>
            <a:r>
              <a:rPr lang="fr-FR" altLang="fr-FR" sz="2400" b="1" dirty="0">
                <a:latin typeface="Times New Roman" panose="02020603050405020304" pitchFamily="18" charset="0"/>
                <a:cs typeface="Times New Roman" panose="02020603050405020304" pitchFamily="18" charset="0"/>
              </a:rPr>
              <a:t>ORIGIN</a:t>
            </a:r>
            <a:r>
              <a:rPr lang="fr-FR" altLang="fr-FR" sz="2400" dirty="0">
                <a:latin typeface="Times New Roman" panose="02020603050405020304" pitchFamily="18" charset="0"/>
                <a:cs typeface="Times New Roman" panose="02020603050405020304" pitchFamily="18" charset="0"/>
              </a:rPr>
              <a:t> </a:t>
            </a:r>
            <a:r>
              <a:rPr kumimoji="0" lang="fr-FR" altLang="fr-FR"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pour gérer les versions.</a:t>
            </a:r>
          </a:p>
          <a:p>
            <a:pPr marL="0" marR="0" lvl="0" indent="0" algn="ctr" defTabSz="914400" rtl="0" eaLnBrk="0" fontAlgn="base" latinLnBrk="0" hangingPunct="0">
              <a:lnSpc>
                <a:spcPct val="100000"/>
              </a:lnSpc>
              <a:spcBef>
                <a:spcPct val="0"/>
              </a:spcBef>
              <a:spcAft>
                <a:spcPct val="0"/>
              </a:spcAft>
              <a:buClrTx/>
              <a:buSzTx/>
              <a:buFontTx/>
              <a:buNone/>
              <a:tabLst/>
            </a:pPr>
            <a:r>
              <a:rPr lang="fr-FR" sz="2400" b="1" dirty="0">
                <a:latin typeface="Times New Roman" panose="02020603050405020304" pitchFamily="18" charset="0"/>
                <a:cs typeface="Times New Roman" panose="02020603050405020304" pitchFamily="18" charset="0"/>
              </a:rPr>
              <a:t>. GitHub Pages</a:t>
            </a:r>
            <a:br>
              <a:rPr lang="fr-FR" sz="2400" dirty="0">
                <a:latin typeface="Times New Roman" panose="02020603050405020304" pitchFamily="18" charset="0"/>
                <a:cs typeface="Times New Roman" panose="02020603050405020304" pitchFamily="18" charset="0"/>
              </a:rPr>
            </a:br>
            <a:r>
              <a:rPr lang="fr-FR" sz="2400" dirty="0">
                <a:latin typeface="Times New Roman" panose="02020603050405020304" pitchFamily="18" charset="0"/>
                <a:cs typeface="Times New Roman" panose="02020603050405020304" pitchFamily="18" charset="0"/>
              </a:rPr>
              <a:t>- J’ai publié le projet en ligne pour le rendre accessible et testable.</a:t>
            </a:r>
            <a:endParaRPr kumimoji="0" lang="fr-FR" altLang="fr-FR"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177333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93BD4AB-80C0-4CF6-B1ED-63EE2684022D}"/>
              </a:ext>
            </a:extLst>
          </p:cNvPr>
          <p:cNvSpPr>
            <a:spLocks noGrp="1"/>
          </p:cNvSpPr>
          <p:nvPr>
            <p:ph type="title"/>
          </p:nvPr>
        </p:nvSpPr>
        <p:spPr>
          <a:xfrm>
            <a:off x="1451579" y="296333"/>
            <a:ext cx="9603275" cy="1557421"/>
          </a:xfrm>
        </p:spPr>
        <p:txBody>
          <a:bodyPr>
            <a:normAutofit fontScale="90000"/>
          </a:bodyPr>
          <a:lstStyle/>
          <a:p>
            <a:pPr algn="ctr"/>
            <a:r>
              <a:rPr lang="en-US" sz="6600" dirty="0">
                <a:latin typeface="Times New Roman" panose="02020603050405020304" pitchFamily="18" charset="0"/>
                <a:cs typeface="Times New Roman" panose="02020603050405020304" pitchFamily="18" charset="0"/>
              </a:rPr>
              <a:t>POINT TECHNIQUE</a:t>
            </a:r>
            <a:br>
              <a:rPr lang="en-US" sz="6600" dirty="0">
                <a:latin typeface="Times New Roman" panose="02020603050405020304" pitchFamily="18" charset="0"/>
                <a:cs typeface="Times New Roman" panose="02020603050405020304" pitchFamily="18" charset="0"/>
              </a:rPr>
            </a:br>
            <a:r>
              <a:rPr lang="fr-FR" sz="1800" b="1" i="0" dirty="0">
                <a:effectLst/>
                <a:latin typeface="SegoeUI"/>
              </a:rPr>
              <a:t>JS (extraits de code + logique)</a:t>
            </a:r>
            <a:r>
              <a:rPr lang="fr-FR" sz="4400" b="1" dirty="0"/>
              <a:t> </a:t>
            </a:r>
            <a:br>
              <a:rPr lang="fr-FR" sz="4400" dirty="0"/>
            </a:br>
            <a:endParaRPr lang="fr-FR" sz="6600" dirty="0">
              <a:latin typeface="Times New Roman" panose="02020603050405020304" pitchFamily="18" charset="0"/>
              <a:cs typeface="Times New Roman" panose="02020603050405020304" pitchFamily="18" charset="0"/>
            </a:endParaRPr>
          </a:p>
        </p:txBody>
      </p:sp>
      <p:sp>
        <p:nvSpPr>
          <p:cNvPr id="3" name="Espace réservé du contenu 2">
            <a:extLst>
              <a:ext uri="{FF2B5EF4-FFF2-40B4-BE49-F238E27FC236}">
                <a16:creationId xmlns:a16="http://schemas.microsoft.com/office/drawing/2014/main" id="{057B64D0-1475-45EE-9768-3511F8691960}"/>
              </a:ext>
            </a:extLst>
          </p:cNvPr>
          <p:cNvSpPr>
            <a:spLocks noGrp="1"/>
          </p:cNvSpPr>
          <p:nvPr>
            <p:ph idx="1"/>
          </p:nvPr>
        </p:nvSpPr>
        <p:spPr>
          <a:xfrm>
            <a:off x="440267" y="2015732"/>
            <a:ext cx="10614588" cy="3450613"/>
          </a:xfrm>
        </p:spPr>
        <p:txBody>
          <a:bodyPr>
            <a:normAutofit/>
          </a:bodyPr>
          <a:lstStyle/>
          <a:p>
            <a:r>
              <a:rPr lang="fr-FR" sz="1800" b="1" dirty="0">
                <a:solidFill>
                  <a:schemeClr val="accent1">
                    <a:lumMod val="60000"/>
                    <a:lumOff val="40000"/>
                  </a:schemeClr>
                </a:solidFill>
                <a:latin typeface="Times New Roman" panose="02020603050405020304" pitchFamily="18" charset="0"/>
                <a:cs typeface="Times New Roman" panose="02020603050405020304" pitchFamily="18" charset="0"/>
              </a:rPr>
              <a:t>Le JavaScript a été utilisé pour ajouter de l’interactivité et améliorer</a:t>
            </a:r>
          </a:p>
          <a:p>
            <a:r>
              <a:rPr lang="fr-FR" sz="1800" dirty="0">
                <a:latin typeface="Times New Roman" panose="02020603050405020304" pitchFamily="18" charset="0"/>
                <a:cs typeface="Times New Roman" panose="02020603050405020304" pitchFamily="18" charset="0"/>
              </a:rPr>
              <a:t> </a:t>
            </a:r>
            <a:r>
              <a:rPr lang="fr-FR" sz="1800" b="1" dirty="0">
                <a:solidFill>
                  <a:schemeClr val="accent1">
                    <a:lumMod val="60000"/>
                    <a:lumOff val="40000"/>
                  </a:schemeClr>
                </a:solidFill>
                <a:latin typeface="Times New Roman" panose="02020603050405020304" pitchFamily="18" charset="0"/>
                <a:cs typeface="Times New Roman" panose="02020603050405020304" pitchFamily="18" charset="0"/>
              </a:rPr>
              <a:t>l’expérience utilisateur sur le site</a:t>
            </a:r>
            <a:r>
              <a:rPr lang="fr-FR" sz="1800" dirty="0">
                <a:latin typeface="Times New Roman" panose="02020603050405020304" pitchFamily="18" charset="0"/>
                <a:cs typeface="Times New Roman" panose="02020603050405020304" pitchFamily="18" charset="0"/>
              </a:rPr>
              <a:t>.</a:t>
            </a:r>
          </a:p>
          <a:p>
            <a:r>
              <a:rPr lang="fr-FR" sz="1800" b="1" dirty="0">
                <a:latin typeface="Times New Roman" panose="02020603050405020304" pitchFamily="18" charset="0"/>
                <a:cs typeface="Times New Roman" panose="02020603050405020304" pitchFamily="18" charset="0"/>
              </a:rPr>
              <a:t>Fonctionnalités développées :</a:t>
            </a:r>
          </a:p>
          <a:p>
            <a:r>
              <a:rPr lang="fr-FR" sz="1800" dirty="0">
                <a:latin typeface="Times New Roman" panose="02020603050405020304" pitchFamily="18" charset="0"/>
                <a:cs typeface="Times New Roman" panose="02020603050405020304" pitchFamily="18" charset="0"/>
              </a:rPr>
              <a:t>• Activation du </a:t>
            </a:r>
            <a:r>
              <a:rPr lang="fr-FR" sz="1800" b="1" dirty="0">
                <a:latin typeface="Times New Roman" panose="02020603050405020304" pitchFamily="18" charset="0"/>
                <a:cs typeface="Times New Roman" panose="02020603050405020304" pitchFamily="18" charset="0"/>
              </a:rPr>
              <a:t>mode sombre / clair</a:t>
            </a:r>
            <a:br>
              <a:rPr lang="fr-FR" sz="1800" dirty="0">
                <a:latin typeface="Times New Roman" panose="02020603050405020304" pitchFamily="18" charset="0"/>
                <a:cs typeface="Times New Roman" panose="02020603050405020304" pitchFamily="18" charset="0"/>
              </a:rPr>
            </a:br>
            <a:r>
              <a:rPr lang="fr-FR" sz="1800" dirty="0">
                <a:latin typeface="Times New Roman" panose="02020603050405020304" pitchFamily="18" charset="0"/>
                <a:cs typeface="Times New Roman" panose="02020603050405020304" pitchFamily="18" charset="0"/>
              </a:rPr>
              <a:t>• Bouton </a:t>
            </a:r>
            <a:r>
              <a:rPr lang="fr-FR" sz="1800" b="1" dirty="0">
                <a:latin typeface="Times New Roman" panose="02020603050405020304" pitchFamily="18" charset="0"/>
                <a:cs typeface="Times New Roman" panose="02020603050405020304" pitchFamily="18" charset="0"/>
              </a:rPr>
              <a:t>retour en haut</a:t>
            </a:r>
            <a:r>
              <a:rPr lang="fr-FR" sz="1800" dirty="0">
                <a:latin typeface="Times New Roman" panose="02020603050405020304" pitchFamily="18" charset="0"/>
                <a:cs typeface="Times New Roman" panose="02020603050405020304" pitchFamily="18" charset="0"/>
              </a:rPr>
              <a:t> après défilement</a:t>
            </a:r>
            <a:br>
              <a:rPr lang="fr-FR" sz="1800" dirty="0">
                <a:latin typeface="Times New Roman" panose="02020603050405020304" pitchFamily="18" charset="0"/>
                <a:cs typeface="Times New Roman" panose="02020603050405020304" pitchFamily="18" charset="0"/>
              </a:rPr>
            </a:br>
            <a:r>
              <a:rPr lang="fr-FR" sz="1800" dirty="0">
                <a:latin typeface="Times New Roman" panose="02020603050405020304" pitchFamily="18" charset="0"/>
                <a:cs typeface="Times New Roman" panose="02020603050405020304" pitchFamily="18" charset="0"/>
              </a:rPr>
              <a:t>• Animation automatique des </a:t>
            </a:r>
            <a:r>
              <a:rPr lang="fr-FR" sz="1800" b="1" dirty="0">
                <a:latin typeface="Times New Roman" panose="02020603050405020304" pitchFamily="18" charset="0"/>
                <a:cs typeface="Times New Roman" panose="02020603050405020304" pitchFamily="18" charset="0"/>
              </a:rPr>
              <a:t>compteurs statistiques</a:t>
            </a:r>
            <a:br>
              <a:rPr lang="fr-FR" sz="1800" dirty="0">
                <a:latin typeface="Times New Roman" panose="02020603050405020304" pitchFamily="18" charset="0"/>
                <a:cs typeface="Times New Roman" panose="02020603050405020304" pitchFamily="18" charset="0"/>
              </a:rPr>
            </a:br>
            <a:r>
              <a:rPr lang="fr-FR" sz="1800" dirty="0">
                <a:latin typeface="Times New Roman" panose="02020603050405020304" pitchFamily="18" charset="0"/>
                <a:cs typeface="Times New Roman" panose="02020603050405020304" pitchFamily="18" charset="0"/>
              </a:rPr>
              <a:t>• Validation du </a:t>
            </a:r>
            <a:r>
              <a:rPr lang="fr-FR" sz="1800" b="1" dirty="0">
                <a:latin typeface="Times New Roman" panose="02020603050405020304" pitchFamily="18" charset="0"/>
                <a:cs typeface="Times New Roman" panose="02020603050405020304" pitchFamily="18" charset="0"/>
              </a:rPr>
              <a:t>formulaire de contact</a:t>
            </a:r>
            <a:br>
              <a:rPr lang="fr-FR" sz="1800" dirty="0">
                <a:latin typeface="Times New Roman" panose="02020603050405020304" pitchFamily="18" charset="0"/>
                <a:cs typeface="Times New Roman" panose="02020603050405020304" pitchFamily="18" charset="0"/>
              </a:rPr>
            </a:br>
            <a:r>
              <a:rPr lang="fr-FR" sz="1800" dirty="0">
                <a:latin typeface="Times New Roman" panose="02020603050405020304" pitchFamily="18" charset="0"/>
                <a:cs typeface="Times New Roman" panose="02020603050405020304" pitchFamily="18" charset="0"/>
              </a:rPr>
              <a:t>• Filtrage dynamique des </a:t>
            </a:r>
            <a:r>
              <a:rPr lang="fr-FR" sz="1800" b="1" dirty="0">
                <a:latin typeface="Times New Roman" panose="02020603050405020304" pitchFamily="18" charset="0"/>
                <a:cs typeface="Times New Roman" panose="02020603050405020304" pitchFamily="18" charset="0"/>
              </a:rPr>
              <a:t>profils freelances</a:t>
            </a:r>
            <a:endParaRPr lang="fr-FR" sz="1800" dirty="0">
              <a:latin typeface="Times New Roman" panose="02020603050405020304" pitchFamily="18" charset="0"/>
              <a:cs typeface="Times New Roman" panose="02020603050405020304" pitchFamily="18" charset="0"/>
            </a:endParaRPr>
          </a:p>
          <a:p>
            <a:endParaRPr lang="fr-FR" sz="1500" dirty="0">
              <a:latin typeface="Times New Roman" panose="02020603050405020304" pitchFamily="18" charset="0"/>
              <a:cs typeface="Times New Roman" panose="02020603050405020304" pitchFamily="18" charset="0"/>
            </a:endParaRPr>
          </a:p>
        </p:txBody>
      </p:sp>
      <p:sp>
        <p:nvSpPr>
          <p:cNvPr id="8" name="ZoneTexte 7">
            <a:extLst>
              <a:ext uri="{FF2B5EF4-FFF2-40B4-BE49-F238E27FC236}">
                <a16:creationId xmlns:a16="http://schemas.microsoft.com/office/drawing/2014/main" id="{D95B8091-3C2B-4930-844D-598EBF1409EA}"/>
              </a:ext>
            </a:extLst>
          </p:cNvPr>
          <p:cNvSpPr txBox="1"/>
          <p:nvPr/>
        </p:nvSpPr>
        <p:spPr>
          <a:xfrm flipH="1" flipV="1">
            <a:off x="3996267" y="2253828"/>
            <a:ext cx="7046382" cy="45719"/>
          </a:xfrm>
          <a:prstGeom prst="rect">
            <a:avLst/>
          </a:prstGeom>
          <a:noFill/>
        </p:spPr>
        <p:txBody>
          <a:bodyPr wrap="square" rtlCol="0">
            <a:spAutoFit/>
          </a:bodyPr>
          <a:lstStyle/>
          <a:p>
            <a:endParaRPr lang="fr-FR" sz="1400" b="0" dirty="0">
              <a:solidFill>
                <a:srgbClr val="BBBEBF"/>
              </a:solidFill>
              <a:effectLst/>
              <a:latin typeface="Consolas" panose="020B0609020204030204" pitchFamily="49" charset="0"/>
            </a:endParaRPr>
          </a:p>
        </p:txBody>
      </p:sp>
      <p:sp>
        <p:nvSpPr>
          <p:cNvPr id="9" name="ZoneTexte 8">
            <a:extLst>
              <a:ext uri="{FF2B5EF4-FFF2-40B4-BE49-F238E27FC236}">
                <a16:creationId xmlns:a16="http://schemas.microsoft.com/office/drawing/2014/main" id="{35B3CECF-60DB-4A13-9886-862AF005CC5D}"/>
              </a:ext>
            </a:extLst>
          </p:cNvPr>
          <p:cNvSpPr txBox="1"/>
          <p:nvPr/>
        </p:nvSpPr>
        <p:spPr>
          <a:xfrm>
            <a:off x="7647515" y="7822354"/>
            <a:ext cx="3816351" cy="369332"/>
          </a:xfrm>
          <a:prstGeom prst="rect">
            <a:avLst/>
          </a:prstGeom>
          <a:noFill/>
        </p:spPr>
        <p:txBody>
          <a:bodyPr wrap="square" rtlCol="0">
            <a:spAutoFit/>
          </a:bodyPr>
          <a:lstStyle/>
          <a:p>
            <a:r>
              <a:rPr lang="fr-FR" b="0" dirty="0">
                <a:solidFill>
                  <a:srgbClr val="C9D1D9"/>
                </a:solidFill>
                <a:effectLst/>
                <a:latin typeface="Consolas" panose="020B0609020204030204" pitchFamily="49" charset="0"/>
              </a:rPr>
              <a:t>.</a:t>
            </a:r>
            <a:endParaRPr lang="fr-FR" dirty="0"/>
          </a:p>
        </p:txBody>
      </p:sp>
      <p:sp>
        <p:nvSpPr>
          <p:cNvPr id="11" name="ZoneTexte 10">
            <a:extLst>
              <a:ext uri="{FF2B5EF4-FFF2-40B4-BE49-F238E27FC236}">
                <a16:creationId xmlns:a16="http://schemas.microsoft.com/office/drawing/2014/main" id="{439DC7F7-8F3E-42DD-AFDB-B7551708FAF3}"/>
              </a:ext>
            </a:extLst>
          </p:cNvPr>
          <p:cNvSpPr txBox="1"/>
          <p:nvPr/>
        </p:nvSpPr>
        <p:spPr>
          <a:xfrm>
            <a:off x="7112000" y="2253828"/>
            <a:ext cx="3056467" cy="3693319"/>
          </a:xfrm>
          <a:prstGeom prst="rect">
            <a:avLst/>
          </a:prstGeom>
          <a:noFill/>
        </p:spPr>
        <p:txBody>
          <a:bodyPr wrap="square" rtlCol="0">
            <a:spAutoFit/>
          </a:bodyPr>
          <a:lstStyle/>
          <a:p>
            <a:r>
              <a:rPr lang="en-US" b="0" dirty="0">
                <a:solidFill>
                  <a:srgbClr val="FF7B72"/>
                </a:solidFill>
                <a:effectLst/>
                <a:latin typeface="Consolas" panose="020B0609020204030204" pitchFamily="49" charset="0"/>
              </a:rPr>
              <a:t>const</a:t>
            </a:r>
            <a:r>
              <a:rPr lang="en-US" b="0" dirty="0">
                <a:solidFill>
                  <a:srgbClr val="BBBEBF"/>
                </a:solidFill>
                <a:effectLst/>
                <a:latin typeface="Consolas" panose="020B0609020204030204" pitchFamily="49" charset="0"/>
              </a:rPr>
              <a:t> </a:t>
            </a:r>
            <a:r>
              <a:rPr lang="en-US" b="0" dirty="0">
                <a:solidFill>
                  <a:srgbClr val="79C0FF"/>
                </a:solidFill>
                <a:effectLst/>
                <a:latin typeface="Consolas" panose="020B0609020204030204" pitchFamily="49" charset="0"/>
              </a:rPr>
              <a:t>themeToggle</a:t>
            </a:r>
            <a:r>
              <a:rPr lang="en-US" b="0" dirty="0">
                <a:solidFill>
                  <a:srgbClr val="BBBEBF"/>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BBBEBF"/>
                </a:solidFill>
                <a:effectLst/>
                <a:latin typeface="Consolas" panose="020B0609020204030204" pitchFamily="49" charset="0"/>
              </a:rPr>
              <a:t> </a:t>
            </a:r>
            <a:r>
              <a:rPr lang="en-US" b="0" dirty="0">
                <a:solidFill>
                  <a:srgbClr val="79C0FF"/>
                </a:solidFill>
                <a:effectLst/>
                <a:latin typeface="Consolas" panose="020B0609020204030204" pitchFamily="49" charset="0"/>
              </a:rPr>
              <a:t>document</a:t>
            </a:r>
            <a:r>
              <a:rPr lang="en-US" b="0" dirty="0">
                <a:solidFill>
                  <a:srgbClr val="BBBEBF"/>
                </a:solidFill>
                <a:effectLst/>
                <a:latin typeface="Consolas" panose="020B0609020204030204" pitchFamily="49" charset="0"/>
              </a:rPr>
              <a:t>.</a:t>
            </a:r>
            <a:r>
              <a:rPr lang="en-US" b="0" dirty="0">
                <a:solidFill>
                  <a:srgbClr val="D2A8FF"/>
                </a:solidFill>
                <a:effectLst/>
                <a:latin typeface="Consolas" panose="020B0609020204030204" pitchFamily="49" charset="0"/>
              </a:rPr>
              <a:t>getElementByd</a:t>
            </a:r>
            <a:r>
              <a:rPr lang="en-US" b="0" dirty="0">
                <a:solidFill>
                  <a:srgbClr val="BBBEBF"/>
                </a:solidFill>
                <a:effectLst/>
                <a:latin typeface="Consolas" panose="020B0609020204030204" pitchFamily="49" charset="0"/>
              </a:rPr>
              <a:t>(</a:t>
            </a:r>
            <a:r>
              <a:rPr lang="en-US" b="0" dirty="0">
                <a:solidFill>
                  <a:srgbClr val="A5D6FF"/>
                </a:solidFill>
                <a:effectLst/>
                <a:latin typeface="Consolas" panose="020B0609020204030204" pitchFamily="49" charset="0"/>
              </a:rPr>
              <a:t>"theme-toggle"</a:t>
            </a:r>
            <a:r>
              <a:rPr lang="en-US" b="0" dirty="0">
                <a:solidFill>
                  <a:srgbClr val="BBBEBF"/>
                </a:solidFill>
                <a:effectLst/>
                <a:latin typeface="Consolas" panose="020B0609020204030204" pitchFamily="49" charset="0"/>
              </a:rPr>
              <a:t>);</a:t>
            </a:r>
          </a:p>
          <a:p>
            <a:r>
              <a:rPr lang="en-US" b="0" dirty="0">
                <a:solidFill>
                  <a:srgbClr val="79C0FF"/>
                </a:solidFill>
                <a:effectLst/>
                <a:latin typeface="Consolas" panose="020B0609020204030204" pitchFamily="49" charset="0"/>
              </a:rPr>
              <a:t>themeToggle</a:t>
            </a:r>
            <a:r>
              <a:rPr lang="en-US" b="0" dirty="0">
                <a:solidFill>
                  <a:srgbClr val="C9D1D9"/>
                </a:solidFill>
                <a:effectLst/>
                <a:latin typeface="Consolas" panose="020B0609020204030204" pitchFamily="49" charset="0"/>
              </a:rPr>
              <a:t>.</a:t>
            </a:r>
            <a:r>
              <a:rPr lang="en-US" b="0" dirty="0">
                <a:solidFill>
                  <a:srgbClr val="D2A8FF"/>
                </a:solidFill>
                <a:effectLst/>
                <a:latin typeface="Consolas" panose="020B0609020204030204" pitchFamily="49" charset="0"/>
              </a:rPr>
              <a:t>addEventListener</a:t>
            </a:r>
            <a:r>
              <a:rPr lang="en-US" b="0" dirty="0">
                <a:solidFill>
                  <a:srgbClr val="C9D1D9"/>
                </a:solidFill>
                <a:effectLst/>
                <a:latin typeface="Consolas" panose="020B0609020204030204" pitchFamily="49" charset="0"/>
              </a:rPr>
              <a:t>(</a:t>
            </a:r>
            <a:r>
              <a:rPr lang="en-US" b="0" dirty="0">
                <a:solidFill>
                  <a:srgbClr val="A5D6FF"/>
                </a:solidFill>
                <a:effectLst/>
                <a:latin typeface="Consolas" panose="020B0609020204030204" pitchFamily="49" charset="0"/>
              </a:rPr>
              <a:t>"click"</a:t>
            </a:r>
            <a:r>
              <a:rPr lang="en-US" b="0" dirty="0">
                <a:solidFill>
                  <a:srgbClr val="C9D1D9"/>
                </a:solidFill>
                <a:effectLst/>
                <a:latin typeface="Consolas" panose="020B0609020204030204" pitchFamily="49" charset="0"/>
              </a:rPr>
              <a:t>, </a:t>
            </a:r>
            <a:r>
              <a:rPr lang="en-US" b="0" dirty="0">
                <a:solidFill>
                  <a:srgbClr val="FF7B72"/>
                </a:solidFill>
                <a:effectLst/>
                <a:latin typeface="Consolas" panose="020B0609020204030204" pitchFamily="49" charset="0"/>
              </a:rPr>
              <a:t>function</a:t>
            </a:r>
            <a:r>
              <a:rPr lang="en-US" b="0" dirty="0">
                <a:solidFill>
                  <a:srgbClr val="C9D1D9"/>
                </a:solidFill>
                <a:effectLst/>
                <a:latin typeface="Consolas" panose="020B0609020204030204" pitchFamily="49" charset="0"/>
              </a:rPr>
              <a:t> () {</a:t>
            </a:r>
            <a:endParaRPr lang="en-US" b="0" dirty="0">
              <a:solidFill>
                <a:srgbClr val="BBBEBF"/>
              </a:solidFill>
              <a:effectLst/>
              <a:latin typeface="Consolas" panose="020B0609020204030204" pitchFamily="49" charset="0"/>
            </a:endParaRPr>
          </a:p>
          <a:p>
            <a:r>
              <a:rPr lang="en-US" b="0" dirty="0">
                <a:solidFill>
                  <a:srgbClr val="C9D1D9"/>
                </a:solidFill>
                <a:effectLst/>
                <a:latin typeface="Consolas" panose="020B0609020204030204" pitchFamily="49" charset="0"/>
              </a:rPr>
              <a:t>        </a:t>
            </a:r>
            <a:r>
              <a:rPr lang="en-US" b="0" dirty="0">
                <a:solidFill>
                  <a:srgbClr val="79C0FF"/>
                </a:solidFill>
                <a:effectLst/>
                <a:latin typeface="Consolas" panose="020B0609020204030204" pitchFamily="49" charset="0"/>
              </a:rPr>
              <a:t>document</a:t>
            </a:r>
            <a:r>
              <a:rPr lang="en-US" b="0" dirty="0">
                <a:solidFill>
                  <a:srgbClr val="C9D1D9"/>
                </a:solidFill>
                <a:effectLst/>
                <a:latin typeface="Consolas" panose="020B0609020204030204" pitchFamily="49" charset="0"/>
              </a:rPr>
              <a:t>.</a:t>
            </a:r>
            <a:r>
              <a:rPr lang="en-US" b="0" dirty="0">
                <a:solidFill>
                  <a:srgbClr val="79C0FF"/>
                </a:solidFill>
                <a:effectLst/>
                <a:latin typeface="Consolas" panose="020B0609020204030204" pitchFamily="49" charset="0"/>
              </a:rPr>
              <a:t>body</a:t>
            </a:r>
            <a:r>
              <a:rPr lang="en-US" b="0" dirty="0">
                <a:solidFill>
                  <a:srgbClr val="C9D1D9"/>
                </a:solidFill>
                <a:effectLst/>
                <a:latin typeface="Consolas" panose="020B0609020204030204" pitchFamily="49" charset="0"/>
              </a:rPr>
              <a:t>.</a:t>
            </a:r>
            <a:r>
              <a:rPr lang="en-US" b="0" dirty="0">
                <a:solidFill>
                  <a:srgbClr val="79C0FF"/>
                </a:solidFill>
                <a:effectLst/>
                <a:latin typeface="Consolas" panose="020B0609020204030204" pitchFamily="49" charset="0"/>
              </a:rPr>
              <a:t>classList</a:t>
            </a:r>
            <a:r>
              <a:rPr lang="en-US" b="0" dirty="0">
                <a:solidFill>
                  <a:srgbClr val="C9D1D9"/>
                </a:solidFill>
                <a:effectLst/>
                <a:latin typeface="Consolas" panose="020B0609020204030204" pitchFamily="49" charset="0"/>
              </a:rPr>
              <a:t>.</a:t>
            </a:r>
            <a:r>
              <a:rPr lang="en-US" b="0" dirty="0">
                <a:solidFill>
                  <a:srgbClr val="D2A8FF"/>
                </a:solidFill>
                <a:effectLst/>
                <a:latin typeface="Consolas" panose="020B0609020204030204" pitchFamily="49" charset="0"/>
              </a:rPr>
              <a:t>toggle</a:t>
            </a:r>
            <a:r>
              <a:rPr lang="en-US" b="0" dirty="0">
                <a:solidFill>
                  <a:srgbClr val="C9D1D9"/>
                </a:solidFill>
                <a:effectLst/>
                <a:latin typeface="Consolas" panose="020B0609020204030204" pitchFamily="49" charset="0"/>
              </a:rPr>
              <a:t>(</a:t>
            </a:r>
            <a:r>
              <a:rPr lang="en-US" b="0" dirty="0">
                <a:solidFill>
                  <a:srgbClr val="A5D6FF"/>
                </a:solidFill>
                <a:effectLst/>
                <a:latin typeface="Consolas" panose="020B0609020204030204" pitchFamily="49" charset="0"/>
              </a:rPr>
              <a:t>"dark-mode"</a:t>
            </a:r>
            <a:r>
              <a:rPr lang="en-US" b="0" dirty="0">
                <a:solidFill>
                  <a:srgbClr val="C9D1D9"/>
                </a:solidFill>
                <a:effectLst/>
                <a:latin typeface="Consolas" panose="020B0609020204030204" pitchFamily="49" charset="0"/>
              </a:rPr>
              <a:t>);</a:t>
            </a:r>
            <a:endParaRPr lang="en-US" b="0" dirty="0">
              <a:solidFill>
                <a:srgbClr val="BBBEBF"/>
              </a:solidFill>
              <a:effectLst/>
              <a:latin typeface="Consolas" panose="020B0609020204030204" pitchFamily="49" charset="0"/>
            </a:endParaRPr>
          </a:p>
          <a:p>
            <a:endParaRPr lang="en-US" b="0" dirty="0">
              <a:solidFill>
                <a:srgbClr val="BBBEBF"/>
              </a:solidFill>
              <a:effectLst/>
              <a:latin typeface="Consolas" panose="020B0609020204030204" pitchFamily="49" charset="0"/>
            </a:endParaRPr>
          </a:p>
          <a:p>
            <a:endParaRPr lang="en-US" b="0" dirty="0">
              <a:solidFill>
                <a:srgbClr val="BBBEBF"/>
              </a:solidFill>
              <a:effectLst/>
              <a:latin typeface="Consolas" panose="020B0609020204030204" pitchFamily="49" charset="0"/>
            </a:endParaRPr>
          </a:p>
          <a:p>
            <a:endParaRPr lang="en-US" b="0" dirty="0">
              <a:solidFill>
                <a:srgbClr val="BBBEBF"/>
              </a:solidFill>
              <a:effectLst/>
              <a:latin typeface="Consolas" panose="020B0609020204030204" pitchFamily="49" charset="0"/>
            </a:endParaRPr>
          </a:p>
          <a:p>
            <a:endParaRPr lang="en-US" b="0" dirty="0">
              <a:solidFill>
                <a:srgbClr val="BBBEBF"/>
              </a:solidFill>
              <a:effectLst/>
              <a:latin typeface="Consolas" panose="020B0609020204030204" pitchFamily="49" charset="0"/>
            </a:endParaRPr>
          </a:p>
        </p:txBody>
      </p:sp>
    </p:spTree>
    <p:extLst>
      <p:ext uri="{BB962C8B-B14F-4D97-AF65-F5344CB8AC3E}">
        <p14:creationId xmlns:p14="http://schemas.microsoft.com/office/powerpoint/2010/main" val="12244941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4EB0360-51DF-49C0-ABDC-C758C7129511}"/>
              </a:ext>
            </a:extLst>
          </p:cNvPr>
          <p:cNvSpPr>
            <a:spLocks noGrp="1"/>
          </p:cNvSpPr>
          <p:nvPr>
            <p:ph type="title"/>
          </p:nvPr>
        </p:nvSpPr>
        <p:spPr/>
        <p:txBody>
          <a:bodyPr>
            <a:normAutofit fontScale="90000"/>
          </a:bodyPr>
          <a:lstStyle/>
          <a:p>
            <a:pPr algn="ctr"/>
            <a:r>
              <a:rPr lang="fr-FR" sz="4000" b="0" i="0" dirty="0">
                <a:effectLst/>
                <a:latin typeface="Arial Black" panose="020B0A04020102020204" pitchFamily="34" charset="0"/>
              </a:rPr>
              <a:t>Bootstrap (composants utilisés)</a:t>
            </a:r>
            <a:r>
              <a:rPr lang="fr-FR" sz="4000" dirty="0">
                <a:latin typeface="Arial Black" panose="020B0A04020102020204" pitchFamily="34" charset="0"/>
              </a:rPr>
              <a:t> </a:t>
            </a:r>
            <a:br>
              <a:rPr lang="fr-FR" dirty="0"/>
            </a:br>
            <a:endParaRPr lang="fr-FR" dirty="0"/>
          </a:p>
        </p:txBody>
      </p:sp>
      <p:sp>
        <p:nvSpPr>
          <p:cNvPr id="3" name="Espace réservé du contenu 2">
            <a:extLst>
              <a:ext uri="{FF2B5EF4-FFF2-40B4-BE49-F238E27FC236}">
                <a16:creationId xmlns:a16="http://schemas.microsoft.com/office/drawing/2014/main" id="{5EB68799-EAC4-4D81-8CD1-CB2439B061DB}"/>
              </a:ext>
            </a:extLst>
          </p:cNvPr>
          <p:cNvSpPr>
            <a:spLocks noGrp="1"/>
          </p:cNvSpPr>
          <p:nvPr>
            <p:ph idx="1"/>
          </p:nvPr>
        </p:nvSpPr>
        <p:spPr>
          <a:xfrm>
            <a:off x="1451579" y="2175933"/>
            <a:ext cx="9603275" cy="3290412"/>
          </a:xfrm>
        </p:spPr>
        <p:txBody>
          <a:bodyPr>
            <a:normAutofit fontScale="77500" lnSpcReduction="20000"/>
          </a:bodyPr>
          <a:lstStyle/>
          <a:p>
            <a:r>
              <a:rPr lang="fr-FR" dirty="0"/>
              <a:t>Bootstrap a permis de créer rapidement une interface responsive et moderne.</a:t>
            </a:r>
          </a:p>
          <a:p>
            <a:r>
              <a:rPr lang="fr-FR" b="1" dirty="0"/>
              <a:t>Composants utilisés :</a:t>
            </a:r>
            <a:endParaRPr lang="fr-FR" dirty="0"/>
          </a:p>
          <a:p>
            <a:r>
              <a:rPr lang="fr-FR" b="1" dirty="0"/>
              <a:t>Navbar</a:t>
            </a:r>
            <a:r>
              <a:rPr lang="fr-FR" dirty="0"/>
              <a:t> → barre de navigation adaptative mobile/ordinateur.</a:t>
            </a:r>
          </a:p>
          <a:p>
            <a:r>
              <a:rPr lang="fr-FR" dirty="0"/>
              <a:t> </a:t>
            </a:r>
            <a:r>
              <a:rPr lang="fr-FR" b="1" dirty="0"/>
              <a:t>Cards</a:t>
            </a:r>
            <a:r>
              <a:rPr lang="fr-FR" dirty="0"/>
              <a:t> → présentation des services et catégories.</a:t>
            </a:r>
          </a:p>
          <a:p>
            <a:r>
              <a:rPr lang="fr-FR" dirty="0"/>
              <a:t> </a:t>
            </a:r>
            <a:r>
              <a:rPr lang="fr-FR" b="1" dirty="0"/>
              <a:t>Carousel</a:t>
            </a:r>
            <a:r>
              <a:rPr lang="fr-FR" dirty="0"/>
              <a:t> → affichage dynamique des témoignages clients.</a:t>
            </a:r>
          </a:p>
          <a:p>
            <a:r>
              <a:rPr lang="fr-FR" b="1" dirty="0"/>
              <a:t>Buttons</a:t>
            </a:r>
            <a:r>
              <a:rPr lang="fr-FR" dirty="0"/>
              <a:t> → création de boutons avec design uniforme.</a:t>
            </a:r>
          </a:p>
          <a:p>
            <a:r>
              <a:rPr lang="fr-FR" dirty="0"/>
              <a:t> </a:t>
            </a:r>
            <a:r>
              <a:rPr lang="fr-FR" b="1" dirty="0"/>
              <a:t>Grid System</a:t>
            </a:r>
            <a:r>
              <a:rPr lang="fr-FR" dirty="0"/>
              <a:t> → disposition des éléments en colonnes responsives</a:t>
            </a:r>
          </a:p>
          <a:p>
            <a:r>
              <a:rPr lang="fr-FR" dirty="0"/>
              <a:t> </a:t>
            </a:r>
            <a:br>
              <a:rPr lang="fr-FR" dirty="0"/>
            </a:br>
            <a:endParaRPr lang="fr-FR" dirty="0"/>
          </a:p>
        </p:txBody>
      </p:sp>
    </p:spTree>
    <p:extLst>
      <p:ext uri="{BB962C8B-B14F-4D97-AF65-F5344CB8AC3E}">
        <p14:creationId xmlns:p14="http://schemas.microsoft.com/office/powerpoint/2010/main" val="15503187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89B7340-1DB7-44AB-A925-ED1B60748AC3}"/>
              </a:ext>
            </a:extLst>
          </p:cNvPr>
          <p:cNvSpPr>
            <a:spLocks noGrp="1"/>
          </p:cNvSpPr>
          <p:nvPr>
            <p:ph type="title"/>
          </p:nvPr>
        </p:nvSpPr>
        <p:spPr/>
        <p:txBody>
          <a:bodyPr>
            <a:normAutofit fontScale="90000"/>
          </a:bodyPr>
          <a:lstStyle/>
          <a:p>
            <a:pPr algn="ctr"/>
            <a:r>
              <a:rPr lang="fr-FR" sz="6000" b="0" i="0" dirty="0">
                <a:solidFill>
                  <a:srgbClr val="000000"/>
                </a:solidFill>
                <a:effectLst/>
                <a:latin typeface="Segoe UI Black" panose="020B0A02040204020203" pitchFamily="34" charset="0"/>
                <a:ea typeface="Segoe UI Black" panose="020B0A02040204020203" pitchFamily="34" charset="0"/>
              </a:rPr>
              <a:t>CSS avancé</a:t>
            </a:r>
            <a:r>
              <a:rPr lang="fr-FR" sz="6000" dirty="0">
                <a:latin typeface="Segoe UI Black" panose="020B0A02040204020203" pitchFamily="34" charset="0"/>
                <a:ea typeface="Segoe UI Black" panose="020B0A02040204020203" pitchFamily="34" charset="0"/>
              </a:rPr>
              <a:t> </a:t>
            </a:r>
            <a:br>
              <a:rPr lang="fr-FR" dirty="0"/>
            </a:br>
            <a:endParaRPr lang="fr-FR" dirty="0"/>
          </a:p>
        </p:txBody>
      </p:sp>
      <p:sp>
        <p:nvSpPr>
          <p:cNvPr id="3" name="Espace réservé du contenu 2">
            <a:extLst>
              <a:ext uri="{FF2B5EF4-FFF2-40B4-BE49-F238E27FC236}">
                <a16:creationId xmlns:a16="http://schemas.microsoft.com/office/drawing/2014/main" id="{C6E3390C-8EFE-486E-A16E-59C5A3409377}"/>
              </a:ext>
            </a:extLst>
          </p:cNvPr>
          <p:cNvSpPr>
            <a:spLocks noGrp="1"/>
          </p:cNvSpPr>
          <p:nvPr>
            <p:ph idx="1"/>
          </p:nvPr>
        </p:nvSpPr>
        <p:spPr>
          <a:xfrm>
            <a:off x="1451579" y="2015732"/>
            <a:ext cx="10232421" cy="3450613"/>
          </a:xfrm>
        </p:spPr>
        <p:txBody>
          <a:bodyPr/>
          <a:lstStyle/>
          <a:p>
            <a:r>
              <a:rPr lang="fr-FR" b="1" dirty="0"/>
              <a:t> </a:t>
            </a:r>
            <a:r>
              <a:rPr lang="fr-FR" b="1" dirty="0">
                <a:solidFill>
                  <a:schemeClr val="accent1">
                    <a:lumMod val="60000"/>
                    <a:lumOff val="40000"/>
                  </a:schemeClr>
                </a:solidFill>
              </a:rPr>
              <a:t>Variables CSS</a:t>
            </a:r>
            <a:br>
              <a:rPr lang="fr-FR" dirty="0"/>
            </a:br>
            <a:r>
              <a:rPr lang="fr-FR" dirty="0"/>
              <a:t>Utilisées pour centraliser</a:t>
            </a:r>
          </a:p>
          <a:p>
            <a:pPr marL="0" indent="0">
              <a:buNone/>
            </a:pPr>
            <a:r>
              <a:rPr lang="fr-FR" dirty="0"/>
              <a:t> les couleurs principales du projet.</a:t>
            </a:r>
          </a:p>
          <a:p>
            <a:pPr marL="0" indent="0">
              <a:buNone/>
            </a:pPr>
            <a:endParaRPr lang="fr-FR" dirty="0"/>
          </a:p>
          <a:p>
            <a:pPr marL="0" indent="0">
              <a:buNone/>
            </a:pPr>
            <a:r>
              <a:rPr lang="fr-FR" b="1" dirty="0"/>
              <a:t>. </a:t>
            </a:r>
            <a:r>
              <a:rPr lang="fr-FR" b="1" dirty="0">
                <a:solidFill>
                  <a:schemeClr val="accent1">
                    <a:lumMod val="60000"/>
                    <a:lumOff val="40000"/>
                  </a:schemeClr>
                </a:solidFill>
              </a:rPr>
              <a:t>Responsive Design</a:t>
            </a:r>
            <a:br>
              <a:rPr lang="fr-FR" dirty="0"/>
            </a:br>
            <a:r>
              <a:rPr lang="fr-FR" dirty="0"/>
              <a:t>Permet l’adaptation du site aux petits écrans.</a:t>
            </a:r>
          </a:p>
        </p:txBody>
      </p:sp>
      <p:sp>
        <p:nvSpPr>
          <p:cNvPr id="4" name="ZoneTexte 3">
            <a:extLst>
              <a:ext uri="{FF2B5EF4-FFF2-40B4-BE49-F238E27FC236}">
                <a16:creationId xmlns:a16="http://schemas.microsoft.com/office/drawing/2014/main" id="{4BB5CBEC-C7D8-4937-9861-19E298D10C93}"/>
              </a:ext>
            </a:extLst>
          </p:cNvPr>
          <p:cNvSpPr txBox="1"/>
          <p:nvPr/>
        </p:nvSpPr>
        <p:spPr>
          <a:xfrm>
            <a:off x="7890934" y="2032878"/>
            <a:ext cx="2548466" cy="1384995"/>
          </a:xfrm>
          <a:prstGeom prst="rect">
            <a:avLst/>
          </a:prstGeom>
          <a:noFill/>
        </p:spPr>
        <p:txBody>
          <a:bodyPr wrap="square" rtlCol="0">
            <a:spAutoFit/>
          </a:bodyPr>
          <a:lstStyle/>
          <a:p>
            <a:r>
              <a:rPr lang="en-US" sz="1200" b="0" dirty="0">
                <a:solidFill>
                  <a:srgbClr val="9CDCFE"/>
                </a:solidFill>
                <a:effectLst/>
                <a:latin typeface="Consolas" panose="020B0609020204030204" pitchFamily="49" charset="0"/>
              </a:rPr>
              <a:t>primary-color</a:t>
            </a:r>
            <a:r>
              <a:rPr lang="en-US" sz="1200" b="0" dirty="0">
                <a:solidFill>
                  <a:srgbClr val="BBBEBF"/>
                </a:solidFill>
                <a:effectLst/>
                <a:latin typeface="Consolas" panose="020B0609020204030204" pitchFamily="49" charset="0"/>
              </a:rPr>
              <a:t>: </a:t>
            </a:r>
            <a:r>
              <a:rPr lang="en-US" sz="1200" b="0" dirty="0">
                <a:solidFill>
                  <a:srgbClr val="CE9178"/>
                </a:solidFill>
                <a:effectLst/>
                <a:latin typeface="Consolas" panose="020B0609020204030204" pitchFamily="49" charset="0"/>
              </a:rPr>
              <a:t>#0d6efd</a:t>
            </a:r>
            <a:r>
              <a:rPr lang="en-US" sz="1200" b="0" dirty="0">
                <a:solidFill>
                  <a:srgbClr val="BBBEBF"/>
                </a:solidFill>
                <a:effectLst/>
                <a:latin typeface="Consolas" panose="020B0609020204030204" pitchFamily="49" charset="0"/>
              </a:rPr>
              <a:t>;</a:t>
            </a:r>
          </a:p>
          <a:p>
            <a:r>
              <a:rPr lang="en-US" sz="1200" b="0" dirty="0">
                <a:solidFill>
                  <a:srgbClr val="BBBEBF"/>
                </a:solidFill>
                <a:effectLst/>
                <a:latin typeface="Consolas" panose="020B0609020204030204" pitchFamily="49" charset="0"/>
              </a:rPr>
              <a:t>    </a:t>
            </a:r>
            <a:r>
              <a:rPr lang="en-US" sz="1200" b="0" dirty="0">
                <a:solidFill>
                  <a:srgbClr val="9CDCFE"/>
                </a:solidFill>
                <a:effectLst/>
                <a:latin typeface="Consolas" panose="020B0609020204030204" pitchFamily="49" charset="0"/>
              </a:rPr>
              <a:t>--secondary-color</a:t>
            </a:r>
            <a:r>
              <a:rPr lang="en-US" sz="1200" b="0" dirty="0">
                <a:solidFill>
                  <a:srgbClr val="BBBEBF"/>
                </a:solidFill>
                <a:effectLst/>
                <a:latin typeface="Consolas" panose="020B0609020204030204" pitchFamily="49" charset="0"/>
              </a:rPr>
              <a:t>: </a:t>
            </a:r>
            <a:r>
              <a:rPr lang="en-US" sz="1200" b="0" dirty="0">
                <a:solidFill>
                  <a:srgbClr val="CE9178"/>
                </a:solidFill>
                <a:effectLst/>
                <a:latin typeface="Consolas" panose="020B0609020204030204" pitchFamily="49" charset="0"/>
              </a:rPr>
              <a:t>#6c757d</a:t>
            </a:r>
            <a:r>
              <a:rPr lang="en-US" sz="1200" b="0" dirty="0">
                <a:solidFill>
                  <a:srgbClr val="BBBEBF"/>
                </a:solidFill>
                <a:effectLst/>
                <a:latin typeface="Consolas" panose="020B0609020204030204" pitchFamily="49" charset="0"/>
              </a:rPr>
              <a:t>;</a:t>
            </a:r>
          </a:p>
          <a:p>
            <a:r>
              <a:rPr lang="en-US" sz="1200" b="0" dirty="0">
                <a:solidFill>
                  <a:srgbClr val="BBBEBF"/>
                </a:solidFill>
                <a:effectLst/>
                <a:latin typeface="Consolas" panose="020B0609020204030204" pitchFamily="49" charset="0"/>
              </a:rPr>
              <a:t>    </a:t>
            </a:r>
            <a:r>
              <a:rPr lang="en-US" sz="1200" b="0" dirty="0">
                <a:solidFill>
                  <a:srgbClr val="9CDCFE"/>
                </a:solidFill>
                <a:effectLst/>
                <a:latin typeface="Consolas" panose="020B0609020204030204" pitchFamily="49" charset="0"/>
              </a:rPr>
              <a:t>--accent-color</a:t>
            </a:r>
            <a:r>
              <a:rPr lang="en-US" sz="1200" b="0" dirty="0">
                <a:solidFill>
                  <a:srgbClr val="BBBEBF"/>
                </a:solidFill>
                <a:effectLst/>
                <a:latin typeface="Consolas" panose="020B0609020204030204" pitchFamily="49" charset="0"/>
              </a:rPr>
              <a:t>: </a:t>
            </a:r>
            <a:r>
              <a:rPr lang="en-US" sz="1200" b="0" dirty="0">
                <a:solidFill>
                  <a:srgbClr val="CE9178"/>
                </a:solidFill>
                <a:effectLst/>
                <a:latin typeface="Consolas" panose="020B0609020204030204" pitchFamily="49" charset="0"/>
              </a:rPr>
              <a:t>#ffc107</a:t>
            </a:r>
            <a:r>
              <a:rPr lang="en-US" sz="1200" b="0" dirty="0">
                <a:solidFill>
                  <a:srgbClr val="BBBEBF"/>
                </a:solidFill>
                <a:effectLst/>
                <a:latin typeface="Consolas" panose="020B0609020204030204" pitchFamily="49" charset="0"/>
              </a:rPr>
              <a:t>;</a:t>
            </a:r>
          </a:p>
          <a:p>
            <a:r>
              <a:rPr lang="en-US" sz="1200" b="0" dirty="0">
                <a:solidFill>
                  <a:srgbClr val="BBBEBF"/>
                </a:solidFill>
                <a:effectLst/>
                <a:latin typeface="Consolas" panose="020B0609020204030204" pitchFamily="49" charset="0"/>
              </a:rPr>
              <a:t>    </a:t>
            </a:r>
            <a:r>
              <a:rPr lang="en-US" sz="1200" b="0" dirty="0">
                <a:solidFill>
                  <a:srgbClr val="9CDCFE"/>
                </a:solidFill>
                <a:effectLst/>
                <a:latin typeface="Consolas" panose="020B0609020204030204" pitchFamily="49" charset="0"/>
              </a:rPr>
              <a:t>--dark-color</a:t>
            </a:r>
            <a:r>
              <a:rPr lang="en-US" sz="1200" b="0" dirty="0">
                <a:solidFill>
                  <a:srgbClr val="BBBEBF"/>
                </a:solidFill>
                <a:effectLst/>
                <a:latin typeface="Consolas" panose="020B0609020204030204" pitchFamily="49" charset="0"/>
              </a:rPr>
              <a:t>: </a:t>
            </a:r>
            <a:r>
              <a:rPr lang="en-US" sz="1200" b="0" dirty="0">
                <a:solidFill>
                  <a:srgbClr val="CE9178"/>
                </a:solidFill>
                <a:effectLst/>
                <a:latin typeface="Consolas" panose="020B0609020204030204" pitchFamily="49" charset="0"/>
              </a:rPr>
              <a:t>#212529</a:t>
            </a:r>
            <a:r>
              <a:rPr lang="en-US" sz="1200" b="0" dirty="0">
                <a:solidFill>
                  <a:srgbClr val="BBBEBF"/>
                </a:solidFill>
                <a:effectLst/>
                <a:latin typeface="Consolas" panose="020B0609020204030204" pitchFamily="49" charset="0"/>
              </a:rPr>
              <a:t>;</a:t>
            </a:r>
          </a:p>
          <a:p>
            <a:r>
              <a:rPr lang="en-US" sz="1200" b="0" dirty="0">
                <a:solidFill>
                  <a:srgbClr val="BBBEBF"/>
                </a:solidFill>
                <a:effectLst/>
                <a:latin typeface="Consolas" panose="020B0609020204030204" pitchFamily="49" charset="0"/>
              </a:rPr>
              <a:t>    </a:t>
            </a:r>
            <a:r>
              <a:rPr lang="en-US" sz="1200" b="0" dirty="0">
                <a:solidFill>
                  <a:srgbClr val="9CDCFE"/>
                </a:solidFill>
                <a:effectLst/>
                <a:latin typeface="Consolas" panose="020B0609020204030204" pitchFamily="49" charset="0"/>
              </a:rPr>
              <a:t>--light-color</a:t>
            </a:r>
            <a:r>
              <a:rPr lang="en-US" sz="1200" b="0" dirty="0">
                <a:solidFill>
                  <a:srgbClr val="BBBEBF"/>
                </a:solidFill>
                <a:effectLst/>
                <a:latin typeface="Consolas" panose="020B0609020204030204" pitchFamily="49" charset="0"/>
              </a:rPr>
              <a:t>: </a:t>
            </a:r>
            <a:r>
              <a:rPr lang="en-US" sz="1200" b="0" dirty="0">
                <a:solidFill>
                  <a:srgbClr val="CE9178"/>
                </a:solidFill>
                <a:effectLst/>
                <a:latin typeface="Consolas" panose="020B0609020204030204" pitchFamily="49" charset="0"/>
              </a:rPr>
              <a:t>#f8f9fa</a:t>
            </a:r>
            <a:r>
              <a:rPr lang="en-US" sz="1200" b="0" dirty="0">
                <a:solidFill>
                  <a:srgbClr val="BBBEBF"/>
                </a:solidFill>
                <a:effectLst/>
                <a:latin typeface="Consolas" panose="020B0609020204030204" pitchFamily="49" charset="0"/>
              </a:rPr>
              <a:t>;</a:t>
            </a:r>
          </a:p>
          <a:p>
            <a:r>
              <a:rPr lang="en-US" sz="1200" b="0" dirty="0">
                <a:solidFill>
                  <a:srgbClr val="BBBEBF"/>
                </a:solidFill>
                <a:effectLst/>
                <a:latin typeface="Consolas" panose="020B0609020204030204" pitchFamily="49" charset="0"/>
              </a:rPr>
              <a:t>    </a:t>
            </a:r>
            <a:r>
              <a:rPr lang="en-US" sz="1200" b="0" dirty="0">
                <a:solidFill>
                  <a:srgbClr val="9CDCFE"/>
                </a:solidFill>
                <a:effectLst/>
                <a:latin typeface="Consolas" panose="020B0609020204030204" pitchFamily="49" charset="0"/>
              </a:rPr>
              <a:t>--white-color</a:t>
            </a:r>
            <a:r>
              <a:rPr lang="en-US" sz="1200" b="0" dirty="0">
                <a:solidFill>
                  <a:srgbClr val="BBBEBF"/>
                </a:solidFill>
                <a:effectLst/>
                <a:latin typeface="Consolas" panose="020B0609020204030204" pitchFamily="49" charset="0"/>
              </a:rPr>
              <a:t>: </a:t>
            </a:r>
            <a:r>
              <a:rPr lang="en-US" sz="1200" b="0" dirty="0">
                <a:solidFill>
                  <a:srgbClr val="CE9178"/>
                </a:solidFill>
                <a:effectLst/>
                <a:latin typeface="Consolas" panose="020B0609020204030204" pitchFamily="49" charset="0"/>
              </a:rPr>
              <a:t>#ffffff</a:t>
            </a:r>
            <a:r>
              <a:rPr lang="en-US" sz="1200" b="0" dirty="0">
                <a:solidFill>
                  <a:srgbClr val="BBBEBF"/>
                </a:solidFill>
                <a:effectLst/>
                <a:latin typeface="Consolas" panose="020B0609020204030204" pitchFamily="49" charset="0"/>
              </a:rPr>
              <a:t>;</a:t>
            </a:r>
          </a:p>
        </p:txBody>
      </p:sp>
      <p:sp>
        <p:nvSpPr>
          <p:cNvPr id="8" name="ZoneTexte 7">
            <a:extLst>
              <a:ext uri="{FF2B5EF4-FFF2-40B4-BE49-F238E27FC236}">
                <a16:creationId xmlns:a16="http://schemas.microsoft.com/office/drawing/2014/main" id="{EFF4DBA3-F009-43E9-9F63-02A3437A5FAB}"/>
              </a:ext>
            </a:extLst>
          </p:cNvPr>
          <p:cNvSpPr txBox="1"/>
          <p:nvPr/>
        </p:nvSpPr>
        <p:spPr>
          <a:xfrm>
            <a:off x="6858000" y="4483099"/>
            <a:ext cx="4461933" cy="646331"/>
          </a:xfrm>
          <a:prstGeom prst="rect">
            <a:avLst/>
          </a:prstGeom>
          <a:noFill/>
        </p:spPr>
        <p:txBody>
          <a:bodyPr wrap="square" rtlCol="0">
            <a:spAutoFit/>
          </a:bodyPr>
          <a:lstStyle/>
          <a:p>
            <a:r>
              <a:rPr lang="fr-FR" b="0" dirty="0">
                <a:solidFill>
                  <a:srgbClr val="C586C0"/>
                </a:solidFill>
                <a:effectLst/>
                <a:latin typeface="Consolas" panose="020B0609020204030204" pitchFamily="49" charset="0"/>
              </a:rPr>
              <a:t>@media</a:t>
            </a:r>
            <a:r>
              <a:rPr lang="fr-FR" b="0" dirty="0">
                <a:solidFill>
                  <a:srgbClr val="BBBEBF"/>
                </a:solidFill>
                <a:effectLst/>
                <a:latin typeface="Consolas" panose="020B0609020204030204" pitchFamily="49" charset="0"/>
              </a:rPr>
              <a:t> (</a:t>
            </a:r>
            <a:r>
              <a:rPr lang="fr-FR" b="0" dirty="0">
                <a:solidFill>
                  <a:srgbClr val="9CDCFE"/>
                </a:solidFill>
                <a:effectLst/>
                <a:latin typeface="Consolas" panose="020B0609020204030204" pitchFamily="49" charset="0"/>
              </a:rPr>
              <a:t>min-</a:t>
            </a:r>
            <a:r>
              <a:rPr lang="fr-FR" b="0" dirty="0" err="1">
                <a:solidFill>
                  <a:srgbClr val="9CDCFE"/>
                </a:solidFill>
                <a:effectLst/>
                <a:latin typeface="Consolas" panose="020B0609020204030204" pitchFamily="49" charset="0"/>
              </a:rPr>
              <a:t>width</a:t>
            </a:r>
            <a:r>
              <a:rPr lang="fr-FR" b="0" dirty="0">
                <a:solidFill>
                  <a:srgbClr val="BBBEBF"/>
                </a:solidFill>
                <a:effectLst/>
                <a:latin typeface="Consolas" panose="020B0609020204030204" pitchFamily="49" charset="0"/>
              </a:rPr>
              <a:t>: </a:t>
            </a:r>
            <a:r>
              <a:rPr lang="fr-FR" b="0" dirty="0">
                <a:solidFill>
                  <a:srgbClr val="B5CEA8"/>
                </a:solidFill>
                <a:effectLst/>
                <a:latin typeface="Consolas" panose="020B0609020204030204" pitchFamily="49" charset="0"/>
              </a:rPr>
              <a:t>768px</a:t>
            </a:r>
            <a:r>
              <a:rPr lang="fr-FR" b="0" dirty="0">
                <a:solidFill>
                  <a:srgbClr val="BBBEBF"/>
                </a:solidFill>
                <a:effectLst/>
                <a:latin typeface="Consolas" panose="020B0609020204030204" pitchFamily="49" charset="0"/>
              </a:rPr>
              <a:t>)</a:t>
            </a:r>
          </a:p>
          <a:p>
            <a:endParaRPr lang="fr-FR" dirty="0"/>
          </a:p>
        </p:txBody>
      </p:sp>
    </p:spTree>
    <p:extLst>
      <p:ext uri="{BB962C8B-B14F-4D97-AF65-F5344CB8AC3E}">
        <p14:creationId xmlns:p14="http://schemas.microsoft.com/office/powerpoint/2010/main" val="26161164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D1FA03B-EC0F-4BEF-B66A-ABD00BB1AE7D}"/>
              </a:ext>
            </a:extLst>
          </p:cNvPr>
          <p:cNvSpPr>
            <a:spLocks noGrp="1"/>
          </p:cNvSpPr>
          <p:nvPr>
            <p:ph type="title"/>
          </p:nvPr>
        </p:nvSpPr>
        <p:spPr>
          <a:xfrm>
            <a:off x="1076929" y="163169"/>
            <a:ext cx="9603275" cy="1430681"/>
          </a:xfrm>
        </p:spPr>
        <p:txBody>
          <a:bodyPr>
            <a:noAutofit/>
          </a:bodyPr>
          <a:lstStyle/>
          <a:p>
            <a:pPr algn="ctr"/>
            <a:r>
              <a:rPr lang="en-US" sz="4800" b="1" dirty="0"/>
              <a:t> DIFFiCULTEs RENCONTRE ET SOLUTIONs</a:t>
            </a:r>
            <a:endParaRPr lang="fr-FR" sz="4800" b="1" dirty="0"/>
          </a:p>
        </p:txBody>
      </p:sp>
      <p:sp>
        <p:nvSpPr>
          <p:cNvPr id="4" name="Rectangle 1">
            <a:extLst>
              <a:ext uri="{FF2B5EF4-FFF2-40B4-BE49-F238E27FC236}">
                <a16:creationId xmlns:a16="http://schemas.microsoft.com/office/drawing/2014/main" id="{6D16FAED-D4ED-4283-BFF7-7E52EB09EC71}"/>
              </a:ext>
            </a:extLst>
          </p:cNvPr>
          <p:cNvSpPr>
            <a:spLocks noGrp="1" noChangeArrowheads="1"/>
          </p:cNvSpPr>
          <p:nvPr>
            <p:ph idx="1"/>
          </p:nvPr>
        </p:nvSpPr>
        <p:spPr bwMode="auto">
          <a:xfrm>
            <a:off x="1150577" y="2020179"/>
            <a:ext cx="4378122" cy="3416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fr-FR" altLang="fr-FR"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-Les difficultes rencontre</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balise &lt;section&gt; non fermée </a:t>
            </a:r>
          </a:p>
          <a:p>
            <a:pPr marL="0" marR="0" lvl="0" indent="0" algn="just" defTabSz="914400" rtl="0" eaLnBrk="0" fontAlgn="base" latinLnBrk="0" hangingPunct="0">
              <a:lnSpc>
                <a:spcPct val="100000"/>
              </a:lnSpc>
              <a:spcBef>
                <a:spcPct val="0"/>
              </a:spcBef>
              <a:spcAft>
                <a:spcPct val="0"/>
              </a:spcAft>
              <a:buClrTx/>
              <a:buSzTx/>
              <a:buFontTx/>
              <a:buChar char="•"/>
              <a:tabLst/>
            </a:pPr>
            <a:r>
              <a:rPr lang="fr-FR" altLang="fr-FR" sz="1800" dirty="0">
                <a:latin typeface="Times New Roman" panose="02020603050405020304" pitchFamily="18" charset="0"/>
                <a:cs typeface="Times New Roman" panose="02020603050405020304" pitchFamily="18" charset="0"/>
              </a:rPr>
              <a:t>Erreur des images</a:t>
            </a:r>
            <a:endParaRPr kumimoji="0" lang="fr-FR" altLang="fr-FR"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commentaire HTML mal fermé </a:t>
            </a: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erreur dans le lien </a:t>
            </a:r>
          </a:p>
          <a:p>
            <a:pPr marL="0" marR="0" lvl="0" indent="0" algn="just" defTabSz="914400" rtl="0" eaLnBrk="0" fontAlgn="base" latinLnBrk="0" hangingPunct="0">
              <a:lnSpc>
                <a:spcPct val="100000"/>
              </a:lnSpc>
              <a:spcBef>
                <a:spcPct val="0"/>
              </a:spcBef>
              <a:spcAft>
                <a:spcPct val="0"/>
              </a:spcAft>
              <a:buClrTx/>
              <a:buSzTx/>
              <a:buNone/>
              <a:tabLst/>
            </a:pPr>
            <a:r>
              <a:rPr kumimoji="0" lang="fr-FR" altLang="fr-FR"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-Les Solutions</a:t>
            </a:r>
          </a:p>
          <a:p>
            <a:pPr marL="0" marR="0" lvl="0" indent="0" algn="just" defTabSz="914400" rtl="0" eaLnBrk="0" fontAlgn="base" latinLnBrk="0" hangingPunct="0">
              <a:lnSpc>
                <a:spcPct val="100000"/>
              </a:lnSpc>
              <a:spcBef>
                <a:spcPct val="0"/>
              </a:spcBef>
              <a:spcAft>
                <a:spcPct val="0"/>
              </a:spcAft>
              <a:buClrTx/>
              <a:buSzTx/>
              <a:buNone/>
              <a:tabLst/>
            </a:pPr>
            <a:r>
              <a:rPr kumimoji="0" lang="fr-FR" altLang="fr-FR"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.Verification ligne par ligne du code</a:t>
            </a:r>
          </a:p>
          <a:p>
            <a:pPr marL="0" marR="0" lvl="0" indent="0" algn="just" defTabSz="914400" rtl="0" eaLnBrk="0" fontAlgn="base" latinLnBrk="0" hangingPunct="0">
              <a:lnSpc>
                <a:spcPct val="100000"/>
              </a:lnSpc>
              <a:spcBef>
                <a:spcPct val="0"/>
              </a:spcBef>
              <a:spcAft>
                <a:spcPct val="0"/>
              </a:spcAft>
              <a:buClrTx/>
              <a:buSzTx/>
              <a:buNone/>
              <a:tabLst/>
            </a:pPr>
            <a:r>
              <a:rPr lang="fr-FR" altLang="fr-FR" sz="1800" dirty="0">
                <a:latin typeface="Times New Roman" panose="02020603050405020304" pitchFamily="18" charset="0"/>
                <a:cs typeface="Times New Roman" panose="02020603050405020304" pitchFamily="18" charset="0"/>
              </a:rPr>
              <a:t>.Verification des images</a:t>
            </a:r>
          </a:p>
          <a:p>
            <a:pPr marL="0" marR="0" lvl="0" indent="0" algn="just" defTabSz="914400" rtl="0" eaLnBrk="0" fontAlgn="base" latinLnBrk="0" hangingPunct="0">
              <a:lnSpc>
                <a:spcPct val="100000"/>
              </a:lnSpc>
              <a:spcBef>
                <a:spcPct val="0"/>
              </a:spcBef>
              <a:spcAft>
                <a:spcPct val="0"/>
              </a:spcAft>
              <a:buClrTx/>
              <a:buSzTx/>
              <a:buNone/>
              <a:tabLst/>
            </a:pPr>
            <a:r>
              <a:rPr kumimoji="0" lang="fr-FR" altLang="fr-FR"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r>
              <a:rPr lang="fr-FR" altLang="fr-FR" sz="1800" dirty="0">
                <a:latin typeface="Times New Roman" panose="02020603050405020304" pitchFamily="18" charset="0"/>
                <a:cs typeface="Times New Roman" panose="02020603050405020304" pitchFamily="18" charset="0"/>
              </a:rPr>
              <a:t>Correction des balises ouvertes /non fermées</a:t>
            </a:r>
          </a:p>
          <a:p>
            <a:pPr marL="0" marR="0" lvl="0" indent="0" algn="just" defTabSz="914400" rtl="0" eaLnBrk="0" fontAlgn="base" latinLnBrk="0" hangingPunct="0">
              <a:lnSpc>
                <a:spcPct val="100000"/>
              </a:lnSpc>
              <a:spcBef>
                <a:spcPct val="0"/>
              </a:spcBef>
              <a:spcAft>
                <a:spcPct val="0"/>
              </a:spcAft>
              <a:buClrTx/>
              <a:buSzTx/>
              <a:buNone/>
              <a:tabLst/>
            </a:pPr>
            <a:r>
              <a:rPr kumimoji="0" lang="fr-FR" altLang="fr-FR"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.Correction des </a:t>
            </a:r>
            <a:r>
              <a:rPr lang="fr-FR" altLang="fr-FR" sz="1800" dirty="0">
                <a:latin typeface="Times New Roman" panose="02020603050405020304" pitchFamily="18" charset="0"/>
                <a:cs typeface="Times New Roman" panose="02020603050405020304" pitchFamily="18" charset="0"/>
              </a:rPr>
              <a:t>Liens HTML</a:t>
            </a:r>
            <a:endParaRPr kumimoji="0" lang="fr-FR" altLang="fr-FR"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None/>
              <a:tabLst/>
            </a:pPr>
            <a:endParaRPr kumimoji="0" lang="fr-FR" altLang="fr-FR"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None/>
              <a:tabLst/>
            </a:pPr>
            <a:endParaRPr kumimoji="0" lang="fr-FR" altLang="fr-FR"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982587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2FA8760-1091-4653-B14A-97C7A0171642}"/>
              </a:ext>
            </a:extLst>
          </p:cNvPr>
          <p:cNvSpPr>
            <a:spLocks noGrp="1"/>
          </p:cNvSpPr>
          <p:nvPr>
            <p:ph type="title"/>
          </p:nvPr>
        </p:nvSpPr>
        <p:spPr/>
        <p:txBody>
          <a:bodyPr>
            <a:normAutofit fontScale="90000"/>
          </a:bodyPr>
          <a:lstStyle/>
          <a:p>
            <a:pPr algn="ctr"/>
            <a:r>
              <a:rPr lang="en-US" sz="3600" dirty="0">
                <a:latin typeface="Arial Black" panose="020B0A04020102020204" pitchFamily="34" charset="0"/>
              </a:rPr>
              <a:t>RESOURCES ET DOCUMENTATION</a:t>
            </a:r>
            <a:br>
              <a:rPr lang="en-US" sz="3600" dirty="0">
                <a:latin typeface="Arial Black" panose="020B0A04020102020204" pitchFamily="34" charset="0"/>
              </a:rPr>
            </a:br>
            <a:r>
              <a:rPr lang="en-US" sz="3600" dirty="0">
                <a:latin typeface="Arial Black" panose="020B0A04020102020204" pitchFamily="34" charset="0"/>
              </a:rPr>
              <a:t> UTILISEES</a:t>
            </a:r>
            <a:endParaRPr lang="fr-FR" sz="3600" dirty="0">
              <a:latin typeface="Arial Black" panose="020B0A04020102020204" pitchFamily="34" charset="0"/>
            </a:endParaRPr>
          </a:p>
        </p:txBody>
      </p:sp>
      <p:sp>
        <p:nvSpPr>
          <p:cNvPr id="3" name="Espace réservé du contenu 2">
            <a:extLst>
              <a:ext uri="{FF2B5EF4-FFF2-40B4-BE49-F238E27FC236}">
                <a16:creationId xmlns:a16="http://schemas.microsoft.com/office/drawing/2014/main" id="{4794F903-71C8-4BA9-957A-00EE6211EA4E}"/>
              </a:ext>
            </a:extLst>
          </p:cNvPr>
          <p:cNvSpPr>
            <a:spLocks noGrp="1"/>
          </p:cNvSpPr>
          <p:nvPr>
            <p:ph idx="1"/>
          </p:nvPr>
        </p:nvSpPr>
        <p:spPr>
          <a:xfrm>
            <a:off x="1210279" y="2218932"/>
            <a:ext cx="9603275" cy="3450613"/>
          </a:xfrm>
        </p:spPr>
        <p:txBody>
          <a:bodyPr>
            <a:normAutofit/>
          </a:bodyPr>
          <a:lstStyle/>
          <a:p>
            <a:r>
              <a:rPr lang="fr-FR" sz="2800" dirty="0">
                <a:latin typeface="Times New Roman" panose="02020603050405020304" pitchFamily="18" charset="0"/>
                <a:cs typeface="Times New Roman" panose="02020603050405020304" pitchFamily="18" charset="0"/>
              </a:rPr>
              <a:t>“Pour réaliser AfriTalent, j’ai utilisé MDN pour apprendre HTML, CSS et JavaScript, Bootstrap pour créer une interface responsive, Google Fonts pour la typographie, GitHub pour gérer les versions, GitHub Pages pour le déploiement et W3C Validator pour vérifier et corriger les erreurs du code.”</a:t>
            </a:r>
          </a:p>
        </p:txBody>
      </p:sp>
    </p:spTree>
    <p:extLst>
      <p:ext uri="{BB962C8B-B14F-4D97-AF65-F5344CB8AC3E}">
        <p14:creationId xmlns:p14="http://schemas.microsoft.com/office/powerpoint/2010/main" val="2630388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E23881-A07C-4412-B0D7-175696A0B674}"/>
              </a:ext>
            </a:extLst>
          </p:cNvPr>
          <p:cNvSpPr>
            <a:spLocks noGrp="1"/>
          </p:cNvSpPr>
          <p:nvPr>
            <p:ph type="title"/>
          </p:nvPr>
        </p:nvSpPr>
        <p:spPr/>
        <p:txBody>
          <a:bodyPr>
            <a:normAutofit/>
          </a:bodyPr>
          <a:lstStyle/>
          <a:p>
            <a:pPr algn="ctr"/>
            <a:r>
              <a:rPr lang="en-US" sz="4400" dirty="0"/>
              <a:t>DEMONSTRATION LIVE DU SITE</a:t>
            </a:r>
            <a:endParaRPr lang="fr-FR" sz="4400" dirty="0"/>
          </a:p>
        </p:txBody>
      </p:sp>
      <p:sp>
        <p:nvSpPr>
          <p:cNvPr id="3" name="Espace réservé du contenu 2">
            <a:extLst>
              <a:ext uri="{FF2B5EF4-FFF2-40B4-BE49-F238E27FC236}">
                <a16:creationId xmlns:a16="http://schemas.microsoft.com/office/drawing/2014/main" id="{86CA909E-7D92-47B0-ACC3-39B472521DD6}"/>
              </a:ext>
            </a:extLst>
          </p:cNvPr>
          <p:cNvSpPr>
            <a:spLocks noGrp="1"/>
          </p:cNvSpPr>
          <p:nvPr>
            <p:ph idx="1"/>
          </p:nvPr>
        </p:nvSpPr>
        <p:spPr>
          <a:xfrm>
            <a:off x="1451579" y="1853754"/>
            <a:ext cx="9603275" cy="4199727"/>
          </a:xfrm>
        </p:spPr>
        <p:txBody>
          <a:bodyPr>
            <a:normAutofit fontScale="25000" lnSpcReduction="20000"/>
          </a:bodyPr>
          <a:lstStyle/>
          <a:p>
            <a:r>
              <a:rPr lang="fr-FR" sz="7200" b="1" dirty="0"/>
              <a:t>Présentation des fonctionnalités principales</a:t>
            </a:r>
          </a:p>
          <a:p>
            <a:r>
              <a:rPr lang="fr-FR" sz="7200" dirty="0"/>
              <a:t>Pendant la démonstration, les </a:t>
            </a:r>
            <a:r>
              <a:rPr lang="fr-FR" sz="7200" dirty="0">
                <a:latin typeface="Times New Roman" panose="02020603050405020304" pitchFamily="18" charset="0"/>
                <a:cs typeface="Times New Roman" panose="02020603050405020304" pitchFamily="18" charset="0"/>
              </a:rPr>
              <a:t>fonctionnalités</a:t>
            </a:r>
            <a:r>
              <a:rPr lang="fr-FR" sz="7200" dirty="0"/>
              <a:t> suivantes seront présentées :</a:t>
            </a:r>
          </a:p>
          <a:p>
            <a:r>
              <a:rPr lang="fr-FR" sz="7200" b="1" dirty="0"/>
              <a:t>Page d’accueil</a:t>
            </a:r>
            <a:r>
              <a:rPr lang="fr-FR" sz="7200" dirty="0"/>
              <a:t> : présentation de la plateforme AfriTalent et navigation principale.</a:t>
            </a:r>
          </a:p>
          <a:p>
            <a:r>
              <a:rPr lang="fr-FR" sz="7200" dirty="0"/>
              <a:t> </a:t>
            </a:r>
            <a:r>
              <a:rPr lang="fr-FR" sz="7200" b="1" dirty="0"/>
              <a:t>Navigation responsive</a:t>
            </a:r>
            <a:r>
              <a:rPr lang="fr-FR" sz="7200" dirty="0"/>
              <a:t> : menu qui s’adapte aux ordinateurs, tablettes et téléphones grâce à Bootstrap.</a:t>
            </a:r>
          </a:p>
          <a:p>
            <a:r>
              <a:rPr lang="fr-FR" sz="7200" dirty="0"/>
              <a:t> </a:t>
            </a:r>
            <a:r>
              <a:rPr lang="fr-FR" sz="7200" b="1" dirty="0"/>
              <a:t>Section services</a:t>
            </a:r>
            <a:r>
              <a:rPr lang="fr-FR" sz="7200" dirty="0"/>
              <a:t> : affichage des différentes catégories de services proposées aux freelances.</a:t>
            </a:r>
          </a:p>
          <a:p>
            <a:r>
              <a:rPr lang="fr-FR" sz="7200" dirty="0"/>
              <a:t> </a:t>
            </a:r>
            <a:r>
              <a:rPr lang="fr-FR" sz="7200" b="1" dirty="0"/>
              <a:t>Section témoignages</a:t>
            </a:r>
            <a:r>
              <a:rPr lang="fr-FR" sz="7200" dirty="0"/>
              <a:t> : carousel interactif permettant de faire défiler les avis clients.</a:t>
            </a:r>
          </a:p>
          <a:p>
            <a:r>
              <a:rPr lang="fr-FR" sz="7200" b="1" dirty="0"/>
              <a:t>Mode sombre / clair</a:t>
            </a:r>
            <a:r>
              <a:rPr lang="fr-FR" sz="7200" dirty="0"/>
              <a:t> : changement dynamique du thème grâce à JavaScript.</a:t>
            </a:r>
          </a:p>
          <a:p>
            <a:r>
              <a:rPr lang="fr-FR" sz="7200" b="1" dirty="0"/>
              <a:t>Bouton retour en haut</a:t>
            </a:r>
            <a:r>
              <a:rPr lang="fr-FR" sz="7200" dirty="0"/>
              <a:t> : amélioration de l’expérience utilisateur pendant la navigation.</a:t>
            </a:r>
          </a:p>
          <a:p>
            <a:r>
              <a:rPr lang="fr-FR" sz="7200" dirty="0"/>
              <a:t> </a:t>
            </a:r>
            <a:r>
              <a:rPr lang="fr-FR" sz="7200" b="1" dirty="0"/>
              <a:t>Pages supplémentaires</a:t>
            </a:r>
            <a:r>
              <a:rPr lang="fr-FR" sz="7200" dirty="0"/>
              <a:t> : accès aux pages Freelances, Tarifs, Contact et À propos</a:t>
            </a:r>
          </a:p>
          <a:p>
            <a:r>
              <a:rPr lang="fr-FR" sz="6600" b="1" i="0" dirty="0">
                <a:solidFill>
                  <a:srgbClr val="1F2328"/>
                </a:solidFill>
                <a:effectLst/>
                <a:latin typeface="Mona Sans VF"/>
              </a:rPr>
              <a:t> </a:t>
            </a:r>
            <a:r>
              <a:rPr lang="fr-FR" sz="6600" b="1" i="0" u="sng" dirty="0">
                <a:solidFill>
                  <a:srgbClr val="0969DA"/>
                </a:solidFill>
                <a:effectLst/>
                <a:latin typeface="Mona Sans VF"/>
                <a:hlinkClick r:id="rId2"/>
              </a:rPr>
              <a:t>https://diao91627-coder.github.io/Aissatou_DIAO_AfriTalent/</a:t>
            </a:r>
            <a:endParaRPr lang="fr-FR" sz="7200" dirty="0">
              <a:latin typeface="Times New Roman" panose="02020603050405020304" pitchFamily="18" charset="0"/>
              <a:cs typeface="Times New Roman" panose="02020603050405020304" pitchFamily="18" charset="0"/>
            </a:endParaRPr>
          </a:p>
          <a:p>
            <a:endParaRPr lang="fr-FR" sz="6400" b="1" i="0" dirty="0">
              <a:solidFill>
                <a:srgbClr val="1F2328"/>
              </a:solidFill>
              <a:effectLst/>
              <a:latin typeface="Mona Sans VF"/>
            </a:endParaRPr>
          </a:p>
          <a:p>
            <a:endParaRPr lang="fr-FR" sz="2400" b="1" dirty="0">
              <a:solidFill>
                <a:srgbClr val="1F2328"/>
              </a:solidFill>
              <a:latin typeface="Mona Sans VF"/>
            </a:endParaRPr>
          </a:p>
          <a:p>
            <a:endParaRPr lang="fr-FR" sz="2400" b="1" i="0" dirty="0">
              <a:solidFill>
                <a:srgbClr val="1F2328"/>
              </a:solidFill>
              <a:effectLst/>
              <a:latin typeface="Mona Sans VF"/>
            </a:endParaRPr>
          </a:p>
          <a:p>
            <a:endParaRPr lang="fr-FR" sz="2400" b="1" dirty="0">
              <a:solidFill>
                <a:srgbClr val="1F2328"/>
              </a:solidFill>
              <a:latin typeface="Mona Sans VF"/>
            </a:endParaRPr>
          </a:p>
          <a:p>
            <a:endParaRPr lang="fr-FR" sz="2400" b="1" i="0" dirty="0">
              <a:solidFill>
                <a:srgbClr val="1F2328"/>
              </a:solidFill>
              <a:effectLst/>
              <a:latin typeface="Mona Sans VF"/>
            </a:endParaRPr>
          </a:p>
          <a:p>
            <a:endParaRPr lang="fr-FR" sz="2400" b="1" dirty="0">
              <a:solidFill>
                <a:srgbClr val="1F2328"/>
              </a:solidFill>
              <a:latin typeface="Mona Sans VF"/>
            </a:endParaRPr>
          </a:p>
          <a:p>
            <a:r>
              <a:rPr lang="fr-FR" sz="2400" b="1" i="0" dirty="0">
                <a:solidFill>
                  <a:srgbClr val="1F2328"/>
                </a:solidFill>
                <a:effectLst/>
                <a:latin typeface="Mona Sans VF"/>
              </a:rPr>
              <a:t>\</a:t>
            </a:r>
            <a:endParaRPr lang="fr-FR"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262430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84EE8E0-BBAA-498E-A8D2-9B7294B0076B}"/>
              </a:ext>
            </a:extLst>
          </p:cNvPr>
          <p:cNvSpPr>
            <a:spLocks noGrp="1"/>
          </p:cNvSpPr>
          <p:nvPr>
            <p:ph type="title"/>
          </p:nvPr>
        </p:nvSpPr>
        <p:spPr/>
        <p:txBody>
          <a:bodyPr>
            <a:normAutofit/>
          </a:bodyPr>
          <a:lstStyle/>
          <a:p>
            <a:pPr algn="ctr"/>
            <a:r>
              <a:rPr lang="en-US" sz="6600" dirty="0"/>
              <a:t>CONCLUSION</a:t>
            </a:r>
            <a:endParaRPr lang="fr-FR" sz="6600" dirty="0"/>
          </a:p>
        </p:txBody>
      </p:sp>
      <p:sp>
        <p:nvSpPr>
          <p:cNvPr id="3" name="Espace réservé du contenu 2">
            <a:extLst>
              <a:ext uri="{FF2B5EF4-FFF2-40B4-BE49-F238E27FC236}">
                <a16:creationId xmlns:a16="http://schemas.microsoft.com/office/drawing/2014/main" id="{F4F282FD-C7CB-48E9-B748-B8921D85B184}"/>
              </a:ext>
            </a:extLst>
          </p:cNvPr>
          <p:cNvSpPr>
            <a:spLocks noGrp="1"/>
          </p:cNvSpPr>
          <p:nvPr>
            <p:ph idx="1"/>
          </p:nvPr>
        </p:nvSpPr>
        <p:spPr>
          <a:xfrm>
            <a:off x="1451579" y="2015732"/>
            <a:ext cx="9603275" cy="5794768"/>
          </a:xfrm>
        </p:spPr>
        <p:txBody>
          <a:bodyPr>
            <a:normAutofit/>
          </a:bodyPr>
          <a:lstStyle/>
          <a:p>
            <a:r>
              <a:rPr lang="fr-FR" sz="2800" dirty="0">
                <a:latin typeface="Times New Roman" panose="02020603050405020304" pitchFamily="18" charset="0"/>
                <a:cs typeface="Times New Roman" panose="02020603050405020304" pitchFamily="18" charset="0"/>
              </a:rPr>
              <a:t>“AfriTalent est une première version fonctionnelle de plateforme web dédiée au freelancing en Afrique. À l’avenir, l’ajout d’une base de données, d’un système de connexion et d’un paiement en ligne permettrait d’en faire une solution complète et utilisable en conditions réelles.”</a:t>
            </a:r>
          </a:p>
        </p:txBody>
      </p:sp>
    </p:spTree>
    <p:extLst>
      <p:ext uri="{BB962C8B-B14F-4D97-AF65-F5344CB8AC3E}">
        <p14:creationId xmlns:p14="http://schemas.microsoft.com/office/powerpoint/2010/main" val="21396261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B7DF3B3-124C-42D8-A14A-D2A2A669A7A9}"/>
              </a:ext>
            </a:extLst>
          </p:cNvPr>
          <p:cNvSpPr>
            <a:spLocks noGrp="1"/>
          </p:cNvSpPr>
          <p:nvPr>
            <p:ph type="title"/>
          </p:nvPr>
        </p:nvSpPr>
        <p:spPr/>
        <p:txBody>
          <a:bodyPr>
            <a:noAutofit/>
          </a:bodyPr>
          <a:lstStyle/>
          <a:p>
            <a:pPr algn="ctr"/>
            <a:r>
              <a:rPr lang="en-US" sz="4800" dirty="0"/>
              <a:t>PERSPECTIVE d’amelioration</a:t>
            </a:r>
            <a:endParaRPr lang="fr-FR" sz="4800" dirty="0"/>
          </a:p>
        </p:txBody>
      </p:sp>
      <p:sp>
        <p:nvSpPr>
          <p:cNvPr id="3" name="Espace réservé du contenu 2">
            <a:extLst>
              <a:ext uri="{FF2B5EF4-FFF2-40B4-BE49-F238E27FC236}">
                <a16:creationId xmlns:a16="http://schemas.microsoft.com/office/drawing/2014/main" id="{455D945D-F864-42C3-B8A4-3192417F5A43}"/>
              </a:ext>
            </a:extLst>
          </p:cNvPr>
          <p:cNvSpPr>
            <a:spLocks noGrp="1"/>
          </p:cNvSpPr>
          <p:nvPr>
            <p:ph idx="1"/>
          </p:nvPr>
        </p:nvSpPr>
        <p:spPr/>
        <p:txBody>
          <a:bodyPr>
            <a:normAutofit fontScale="77500" lnSpcReduction="20000"/>
          </a:bodyPr>
          <a:lstStyle/>
          <a:p>
            <a:r>
              <a:rPr lang="fr-FR" b="1" dirty="0"/>
              <a:t>Dans les prochaines versions du projet, plusieurs améliorations peuvent être ajoutées </a:t>
            </a:r>
            <a:r>
              <a:rPr lang="fr-FR" dirty="0"/>
              <a:t>:</a:t>
            </a:r>
          </a:p>
          <a:p>
            <a:r>
              <a:rPr lang="fr-FR" b="1" dirty="0"/>
              <a:t>Système de connexion et inscription</a:t>
            </a:r>
            <a:r>
              <a:rPr lang="fr-FR" dirty="0"/>
              <a:t> permettant aux freelances et entreprises de créer un compte personnel.</a:t>
            </a:r>
          </a:p>
          <a:p>
            <a:r>
              <a:rPr lang="fr-FR" dirty="0"/>
              <a:t> </a:t>
            </a:r>
            <a:r>
              <a:rPr lang="fr-FR" b="1" dirty="0"/>
              <a:t>Base de données</a:t>
            </a:r>
            <a:r>
              <a:rPr lang="fr-FR" dirty="0"/>
              <a:t> pour enregistrer les utilisateurs, les missions et les informations du site de façon dynamique.</a:t>
            </a:r>
          </a:p>
          <a:p>
            <a:r>
              <a:rPr lang="fr-FR" dirty="0"/>
              <a:t> </a:t>
            </a:r>
            <a:r>
              <a:rPr lang="fr-FR" b="1" dirty="0"/>
              <a:t>Messagerie interne</a:t>
            </a:r>
            <a:r>
              <a:rPr lang="fr-FR" dirty="0"/>
              <a:t> pour permettre la communication directe entre clients et freelances.</a:t>
            </a:r>
          </a:p>
          <a:p>
            <a:r>
              <a:rPr lang="fr-FR" dirty="0"/>
              <a:t> </a:t>
            </a:r>
            <a:r>
              <a:rPr lang="fr-FR" b="1" dirty="0"/>
              <a:t>Système de paiement sécurisé</a:t>
            </a:r>
            <a:r>
              <a:rPr lang="fr-FR" dirty="0"/>
              <a:t> pour faciliter les transactions en ligne entre les utilisateurs.</a:t>
            </a:r>
          </a:p>
          <a:p>
            <a:r>
              <a:rPr lang="fr-FR" dirty="0"/>
              <a:t> </a:t>
            </a:r>
            <a:r>
              <a:rPr lang="fr-FR" b="1" dirty="0"/>
              <a:t>Amélioration du responsive design</a:t>
            </a:r>
            <a:r>
              <a:rPr lang="fr-FR" dirty="0"/>
              <a:t> pour une meilleure expérience sur tous les appareils mobiles.</a:t>
            </a:r>
          </a:p>
          <a:p>
            <a:r>
              <a:rPr lang="fr-FR" dirty="0"/>
              <a:t> </a:t>
            </a:r>
            <a:r>
              <a:rPr lang="fr-FR" b="1" dirty="0"/>
              <a:t>Ajout d’un moteur de recherche avancé</a:t>
            </a:r>
            <a:r>
              <a:rPr lang="fr-FR" dirty="0"/>
              <a:t> pour trouver rapidement un freelance selon ses compétences.</a:t>
            </a:r>
          </a:p>
          <a:p>
            <a:r>
              <a:rPr lang="fr-FR" dirty="0"/>
              <a:t> </a:t>
            </a:r>
            <a:r>
              <a:rPr lang="fr-FR" b="1" dirty="0"/>
              <a:t>Déploiement complet en ligne</a:t>
            </a:r>
            <a:r>
              <a:rPr lang="fr-FR" dirty="0"/>
              <a:t> avec un hébergement professionnel et un nom de domaine personnalisé.</a:t>
            </a:r>
          </a:p>
          <a:p>
            <a:endParaRPr lang="fr-FR" dirty="0">
              <a:latin typeface="Arial Black" panose="020B0A04020102020204" pitchFamily="34" charset="0"/>
            </a:endParaRPr>
          </a:p>
        </p:txBody>
      </p:sp>
    </p:spTree>
    <p:extLst>
      <p:ext uri="{BB962C8B-B14F-4D97-AF65-F5344CB8AC3E}">
        <p14:creationId xmlns:p14="http://schemas.microsoft.com/office/powerpoint/2010/main" val="1223257436"/>
      </p:ext>
    </p:extLst>
  </p:cSld>
  <p:clrMapOvr>
    <a:masterClrMapping/>
  </p:clrMapOvr>
</p:sld>
</file>

<file path=ppt/theme/theme1.xml><?xml version="1.0" encoding="utf-8"?>
<a:theme xmlns:a="http://schemas.openxmlformats.org/drawingml/2006/main" name="Galerie">
  <a:themeElements>
    <a:clrScheme name="Galerie">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erie">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erie">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Gallery</Template>
  <TotalTime>3483</TotalTime>
  <Words>1063</Words>
  <Application>Microsoft Office PowerPoint</Application>
  <PresentationFormat>Grand écran</PresentationFormat>
  <Paragraphs>101</Paragraphs>
  <Slides>14</Slides>
  <Notes>0</Notes>
  <HiddenSlides>0</HiddenSlides>
  <MMClips>0</MMClips>
  <ScaleCrop>false</ScaleCrop>
  <HeadingPairs>
    <vt:vector size="6" baseType="variant">
      <vt:variant>
        <vt:lpstr>Polices utilisées</vt:lpstr>
      </vt:variant>
      <vt:variant>
        <vt:i4>8</vt:i4>
      </vt:variant>
      <vt:variant>
        <vt:lpstr>Thème</vt:lpstr>
      </vt:variant>
      <vt:variant>
        <vt:i4>1</vt:i4>
      </vt:variant>
      <vt:variant>
        <vt:lpstr>Titres des diapositives</vt:lpstr>
      </vt:variant>
      <vt:variant>
        <vt:i4>14</vt:i4>
      </vt:variant>
    </vt:vector>
  </HeadingPairs>
  <TitlesOfParts>
    <vt:vector size="23" baseType="lpstr">
      <vt:lpstr>Arial</vt:lpstr>
      <vt:lpstr>Arial Black</vt:lpstr>
      <vt:lpstr>Consolas</vt:lpstr>
      <vt:lpstr>Gill Sans MT</vt:lpstr>
      <vt:lpstr>Mona Sans VF</vt:lpstr>
      <vt:lpstr>Segoe UI Black</vt:lpstr>
      <vt:lpstr>SegoeUI</vt:lpstr>
      <vt:lpstr>Times New Roman</vt:lpstr>
      <vt:lpstr>Galerie</vt:lpstr>
      <vt:lpstr>.AfriTalent</vt:lpstr>
      <vt:lpstr>.SOMMAIRE</vt:lpstr>
      <vt:lpstr>Presentation du PROJET</vt:lpstr>
      <vt:lpstr>CHOIX DE DESIGN</vt:lpstr>
      <vt:lpstr>              ARCHITECTURE</vt:lpstr>
      <vt:lpstr>GITHUB</vt:lpstr>
      <vt:lpstr>POINT TECHNIQUE JS (extraits de code + logique)  </vt:lpstr>
      <vt:lpstr>Bootstrap (composants utilisés)  </vt:lpstr>
      <vt:lpstr>CSS avancé  </vt:lpstr>
      <vt:lpstr> DIFFiCULTEs RENCONTRE ET SOLUTIONs</vt:lpstr>
      <vt:lpstr>RESOURCES ET DOCUMENTATION  UTILISEES</vt:lpstr>
      <vt:lpstr>DEMONSTRATION LIVE DU SITE</vt:lpstr>
      <vt:lpstr>CONCLUSION</vt:lpstr>
      <vt:lpstr>PERSPECTIVE d’amelioration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Prof</dc:creator>
  <cp:lastModifiedBy>Prof</cp:lastModifiedBy>
  <cp:revision>36</cp:revision>
  <dcterms:created xsi:type="dcterms:W3CDTF">2026-06-17T09:44:31Z</dcterms:created>
  <dcterms:modified xsi:type="dcterms:W3CDTF">2026-06-23T22:18:27Z</dcterms:modified>
</cp:coreProperties>
</file>