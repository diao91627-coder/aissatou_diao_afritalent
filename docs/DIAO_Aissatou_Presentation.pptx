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2" r:id="rId7"/>
    <p:sldId id="261"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6" d="100"/>
          <a:sy n="66" d="100"/>
        </p:scale>
        <p:origin x="668"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fr-FR"/>
              <a:t>Modifiez le style du titre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EBB3AEE8-3EC3-44A2-86E6-306757BFC25E}" type="datetimeFigureOut">
              <a:rPr lang="fr-FR" smtClean="0"/>
              <a:t>17/06/2026</a:t>
            </a:fld>
            <a:endParaRPr lang="fr-FR"/>
          </a:p>
        </p:txBody>
      </p:sp>
      <p:sp>
        <p:nvSpPr>
          <p:cNvPr id="5" name="Footer Placeholder 4"/>
          <p:cNvSpPr>
            <a:spLocks noGrp="1"/>
          </p:cNvSpPr>
          <p:nvPr>
            <p:ph type="ftr" sz="quarter" idx="11"/>
          </p:nvPr>
        </p:nvSpPr>
        <p:spPr>
          <a:xfrm>
            <a:off x="2416500" y="329307"/>
            <a:ext cx="4973915" cy="309201"/>
          </a:xfrm>
        </p:spPr>
        <p:txBody>
          <a:bodyPr/>
          <a:lstStyle/>
          <a:p>
            <a:endParaRPr lang="fr-FR"/>
          </a:p>
        </p:txBody>
      </p:sp>
      <p:sp>
        <p:nvSpPr>
          <p:cNvPr id="6" name="Slide Number Placeholder 5"/>
          <p:cNvSpPr>
            <a:spLocks noGrp="1"/>
          </p:cNvSpPr>
          <p:nvPr>
            <p:ph type="sldNum" sz="quarter" idx="12"/>
          </p:nvPr>
        </p:nvSpPr>
        <p:spPr>
          <a:xfrm>
            <a:off x="1437664" y="798973"/>
            <a:ext cx="811019" cy="503578"/>
          </a:xfrm>
        </p:spPr>
        <p:txBody>
          <a:bodyPr/>
          <a:lstStyle/>
          <a:p>
            <a:fld id="{424FC5F9-5A6F-484B-B384-F90DF68339B3}" type="slidenum">
              <a:rPr lang="fr-FR" smtClean="0"/>
              <a:t>‹N°›</a:t>
            </a:fld>
            <a:endParaRPr lang="fr-FR"/>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69376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BB3AEE8-3EC3-44A2-86E6-306757BFC25E}" type="datetimeFigureOut">
              <a:rPr lang="fr-FR" smtClean="0"/>
              <a:t>17/06/2026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24FC5F9-5A6F-484B-B384-F90DF68339B3}" type="slidenum">
              <a:rPr lang="fr-FR" smtClean="0"/>
              <a:t>‹N°›</a:t>
            </a:fld>
            <a:endParaRPr lang="fr-FR"/>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814954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fr-FR"/>
              <a:t>Modifiez le style du titre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EBB3AEE8-3EC3-44A2-86E6-306757BFC25E}" type="datetimeFigureOut">
              <a:rPr lang="fr-FR" smtClean="0"/>
              <a:t>17/06/2026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24FC5F9-5A6F-484B-B384-F90DF68339B3}" type="slidenum">
              <a:rPr lang="fr-FR" smtClean="0"/>
              <a:t>‹N°›</a:t>
            </a:fld>
            <a:endParaRPr lang="fr-FR"/>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55224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fr-FR"/>
              <a:t>Modifiez le style du titre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EBB3AEE8-3EC3-44A2-86E6-306757BFC25E}" type="datetimeFigureOut">
              <a:rPr lang="fr-FR" smtClean="0"/>
              <a:t>17/06/2026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24FC5F9-5A6F-484B-B384-F90DF68339B3}" type="slidenum">
              <a:rPr lang="fr-FR" smtClean="0"/>
              <a:t>‹N°›</a:t>
            </a:fld>
            <a:endParaRPr lang="fr-FR"/>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6738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fr-FR"/>
              <a:t>Modifiez le style du titre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447191" y="2824269"/>
            <a:ext cx="4645152" cy="264445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412362" y="2821491"/>
            <a:ext cx="4645152" cy="263737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EBB3AEE8-3EC3-44A2-86E6-306757BFC25E}" type="datetimeFigureOut">
              <a:rPr lang="fr-FR" smtClean="0"/>
              <a:t>17/06/2026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424FC5F9-5A6F-484B-B384-F90DF68339B3}" type="slidenum">
              <a:rPr lang="fr-FR" smtClean="0"/>
              <a:t>‹N°›</a:t>
            </a:fld>
            <a:endParaRPr lang="fr-FR"/>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69430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EBB3AEE8-3EC3-44A2-86E6-306757BFC25E}" type="datetimeFigureOut">
              <a:rPr lang="fr-FR" smtClean="0"/>
              <a:t>17/06/2026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424FC5F9-5A6F-484B-B384-F90DF68339B3}" type="slidenum">
              <a:rPr lang="fr-FR" smtClean="0"/>
              <a:t>‹N°›</a:t>
            </a:fld>
            <a:endParaRPr lang="fr-FR"/>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44285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B3AEE8-3EC3-44A2-86E6-306757BFC25E}" type="datetimeFigureOut">
              <a:rPr lang="fr-FR" smtClean="0"/>
              <a:t>17/06/2026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424FC5F9-5A6F-484B-B384-F90DF68339B3}" type="slidenum">
              <a:rPr lang="fr-FR" smtClean="0"/>
              <a:t>‹N°›</a:t>
            </a:fld>
            <a:endParaRPr lang="fr-FR"/>
          </a:p>
        </p:txBody>
      </p:sp>
    </p:spTree>
    <p:extLst>
      <p:ext uri="{BB962C8B-B14F-4D97-AF65-F5344CB8AC3E}">
        <p14:creationId xmlns:p14="http://schemas.microsoft.com/office/powerpoint/2010/main" val="211440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fr-FR"/>
              <a:t>Modifiez le style du titre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EBB3AEE8-3EC3-44A2-86E6-306757BFC25E}" type="datetimeFigureOut">
              <a:rPr lang="fr-FR" smtClean="0"/>
              <a:t>17/06/2026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24FC5F9-5A6F-484B-B384-F90DF68339B3}" type="slidenum">
              <a:rPr lang="fr-FR" smtClean="0"/>
              <a:t>‹N°›</a:t>
            </a:fld>
            <a:endParaRPr lang="fr-FR"/>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21767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EBB3AEE8-3EC3-44A2-86E6-306757BFC25E}" type="datetimeFigureOut">
              <a:rPr lang="fr-FR" smtClean="0"/>
              <a:t>17/06/2026</a:t>
            </a:fld>
            <a:endParaRPr lang="fr-FR"/>
          </a:p>
        </p:txBody>
      </p:sp>
      <p:sp>
        <p:nvSpPr>
          <p:cNvPr id="6" name="Footer Placeholder 5"/>
          <p:cNvSpPr>
            <a:spLocks noGrp="1"/>
          </p:cNvSpPr>
          <p:nvPr>
            <p:ph type="ftr" sz="quarter" idx="11"/>
          </p:nvPr>
        </p:nvSpPr>
        <p:spPr>
          <a:xfrm>
            <a:off x="1447382" y="318640"/>
            <a:ext cx="5541004" cy="320931"/>
          </a:xfrm>
        </p:spPr>
        <p:txBody>
          <a:bodyPr/>
          <a:lstStyle/>
          <a:p>
            <a:endParaRPr lang="fr-FR"/>
          </a:p>
        </p:txBody>
      </p:sp>
      <p:sp>
        <p:nvSpPr>
          <p:cNvPr id="7" name="Slide Number Placeholder 6"/>
          <p:cNvSpPr>
            <a:spLocks noGrp="1"/>
          </p:cNvSpPr>
          <p:nvPr>
            <p:ph type="sldNum" sz="quarter" idx="12"/>
          </p:nvPr>
        </p:nvSpPr>
        <p:spPr/>
        <p:txBody>
          <a:bodyPr/>
          <a:lstStyle/>
          <a:p>
            <a:fld id="{424FC5F9-5A6F-484B-B384-F90DF68339B3}" type="slidenum">
              <a:rPr lang="fr-FR" smtClean="0"/>
              <a:t>‹N°›</a:t>
            </a:fld>
            <a:endParaRPr lang="fr-FR"/>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35113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BB3AEE8-3EC3-44A2-86E6-306757BFC25E}" type="datetimeFigureOut">
              <a:rPr lang="fr-FR" smtClean="0"/>
              <a:t>17/06/2026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24FC5F9-5A6F-484B-B384-F90DF68339B3}" type="slidenum">
              <a:rPr lang="fr-FR" smtClean="0"/>
              <a:t>‹N°›</a:t>
            </a:fld>
            <a:endParaRPr lang="fr-FR"/>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41306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fr-FR"/>
              <a:t>Modifiez le style du titre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BB3AEE8-3EC3-44A2-86E6-306757BFC25E}" type="datetimeFigureOut">
              <a:rPr lang="fr-FR" smtClean="0"/>
              <a:t>17/06/2026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24FC5F9-5A6F-484B-B384-F90DF68339B3}" type="slidenum">
              <a:rPr lang="fr-FR" smtClean="0"/>
              <a:t>‹N°›</a:t>
            </a:fld>
            <a:endParaRPr lang="fr-FR"/>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1841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EBB3AEE8-3EC3-44A2-86E6-306757BFC25E}" type="datetimeFigureOut">
              <a:rPr lang="fr-FR" smtClean="0"/>
              <a:t>17/06/2026</a:t>
            </a:fld>
            <a:endParaRPr lang="fr-FR"/>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424FC5F9-5A6F-484B-B384-F90DF68339B3}" type="slidenum">
              <a:rPr lang="fr-FR" smtClean="0"/>
              <a:t>‹N°›</a:t>
            </a:fld>
            <a:endParaRPr lang="fr-FR"/>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24676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B890A8A-31F7-4E60-8F48-2F4DEB0D300A}"/>
              </a:ext>
            </a:extLst>
          </p:cNvPr>
          <p:cNvSpPr>
            <a:spLocks noGrp="1"/>
          </p:cNvSpPr>
          <p:nvPr>
            <p:ph type="ctrTitle"/>
          </p:nvPr>
        </p:nvSpPr>
        <p:spPr>
          <a:xfrm>
            <a:off x="2417779" y="802298"/>
            <a:ext cx="8637073" cy="2563202"/>
          </a:xfrm>
        </p:spPr>
        <p:txBody>
          <a:bodyPr/>
          <a:lstStyle/>
          <a:p>
            <a:pPr algn="ctr"/>
            <a:r>
              <a:rPr lang="en-US" b="1" dirty="0">
                <a:latin typeface="Times New Roman" panose="02020603050405020304" pitchFamily="18" charset="0"/>
                <a:cs typeface="Times New Roman" panose="02020603050405020304" pitchFamily="18" charset="0"/>
              </a:rPr>
              <a:t>.AfriTalent</a:t>
            </a:r>
            <a:endParaRPr lang="fr-FR" b="1" dirty="0">
              <a:latin typeface="Times New Roman" panose="02020603050405020304" pitchFamily="18" charset="0"/>
              <a:cs typeface="Times New Roman" panose="02020603050405020304" pitchFamily="18" charset="0"/>
            </a:endParaRPr>
          </a:p>
        </p:txBody>
      </p:sp>
      <p:sp>
        <p:nvSpPr>
          <p:cNvPr id="3" name="Sous-titre 2">
            <a:extLst>
              <a:ext uri="{FF2B5EF4-FFF2-40B4-BE49-F238E27FC236}">
                <a16:creationId xmlns:a16="http://schemas.microsoft.com/office/drawing/2014/main" id="{AF21D0B1-C2C8-4600-8CF1-81D4A740A7A9}"/>
              </a:ext>
            </a:extLst>
          </p:cNvPr>
          <p:cNvSpPr>
            <a:spLocks noGrp="1"/>
          </p:cNvSpPr>
          <p:nvPr>
            <p:ph type="subTitle" idx="1"/>
          </p:nvPr>
        </p:nvSpPr>
        <p:spPr>
          <a:xfrm>
            <a:off x="2417779" y="3514272"/>
            <a:ext cx="8637072" cy="1815496"/>
          </a:xfrm>
        </p:spPr>
        <p:txBody>
          <a:bodyPr>
            <a:normAutofit fontScale="25000" lnSpcReduction="20000"/>
          </a:bodyPr>
          <a:lstStyle/>
          <a:p>
            <a:pPr algn="just"/>
            <a:r>
              <a:rPr lang="en-US" sz="11200" dirty="0">
                <a:latin typeface="Times New Roman" panose="02020603050405020304" pitchFamily="18" charset="0"/>
                <a:cs typeface="Times New Roman" panose="02020603050405020304" pitchFamily="18" charset="0"/>
              </a:rPr>
              <a:t>AISSATOU WOURY DIAO</a:t>
            </a:r>
          </a:p>
          <a:p>
            <a:pPr algn="just"/>
            <a:r>
              <a:rPr lang="en-US" sz="11200" dirty="0">
                <a:latin typeface="Times New Roman" panose="02020603050405020304" pitchFamily="18" charset="0"/>
                <a:cs typeface="Times New Roman" panose="02020603050405020304" pitchFamily="18" charset="0"/>
              </a:rPr>
              <a:t>L1 IAGE-ISI</a:t>
            </a:r>
          </a:p>
          <a:p>
            <a:pPr algn="just"/>
            <a:r>
              <a:rPr lang="en-US" sz="11200" dirty="0">
                <a:latin typeface="Times New Roman" panose="02020603050405020304" pitchFamily="18" charset="0"/>
                <a:cs typeface="Times New Roman" panose="02020603050405020304" pitchFamily="18" charset="0"/>
              </a:rPr>
              <a:t>17/ juin /2026</a:t>
            </a:r>
          </a:p>
          <a:p>
            <a:pPr algn="just"/>
            <a:endParaRPr lang="en-US" sz="11200" dirty="0">
              <a:latin typeface="Times New Roman" panose="02020603050405020304" pitchFamily="18" charset="0"/>
              <a:cs typeface="Times New Roman" panose="02020603050405020304" pitchFamily="18" charset="0"/>
            </a:endParaRPr>
          </a:p>
          <a:p>
            <a:pPr algn="just"/>
            <a:endParaRPr lang="fr-FR" sz="1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906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B6C6FB-DE93-471A-A9EE-6CF3F627251A}"/>
              </a:ext>
            </a:extLst>
          </p:cNvPr>
          <p:cNvSpPr>
            <a:spLocks noGrp="1"/>
          </p:cNvSpPr>
          <p:nvPr>
            <p:ph type="title"/>
          </p:nvPr>
        </p:nvSpPr>
        <p:spPr/>
        <p:txBody>
          <a:bodyPr>
            <a:normAutofit/>
          </a:bodyPr>
          <a:lstStyle/>
          <a:p>
            <a:pPr algn="ctr"/>
            <a:r>
              <a:rPr lang="en-US" sz="6600" b="1" dirty="0">
                <a:latin typeface="Times New Roman" panose="02020603050405020304" pitchFamily="18" charset="0"/>
                <a:cs typeface="Times New Roman" panose="02020603050405020304" pitchFamily="18" charset="0"/>
              </a:rPr>
              <a:t>.SOMMAIRE</a:t>
            </a:r>
            <a:endParaRPr lang="fr-FR" sz="6600" b="1" dirty="0">
              <a:latin typeface="Times New Roman" panose="02020603050405020304" pitchFamily="18" charset="0"/>
              <a:cs typeface="Times New Roman" panose="02020603050405020304" pitchFamily="18" charset="0"/>
            </a:endParaRPr>
          </a:p>
        </p:txBody>
      </p:sp>
      <p:sp>
        <p:nvSpPr>
          <p:cNvPr id="3" name="Espace réservé du contenu 2">
            <a:extLst>
              <a:ext uri="{FF2B5EF4-FFF2-40B4-BE49-F238E27FC236}">
                <a16:creationId xmlns:a16="http://schemas.microsoft.com/office/drawing/2014/main" id="{55375984-0D6E-4807-8614-0173811AAD8E}"/>
              </a:ext>
            </a:extLst>
          </p:cNvPr>
          <p:cNvSpPr>
            <a:spLocks noGrp="1"/>
          </p:cNvSpPr>
          <p:nvPr>
            <p:ph idx="1"/>
          </p:nvPr>
        </p:nvSpPr>
        <p:spPr/>
        <p:txBody>
          <a:bodyPr>
            <a:normAutofit fontScale="85000" lnSpcReduction="20000"/>
          </a:bodyPr>
          <a:lstStyle/>
          <a:p>
            <a:r>
              <a:rPr lang="en-US" dirty="0">
                <a:latin typeface="Times New Roman" panose="02020603050405020304" pitchFamily="18" charset="0"/>
                <a:cs typeface="Times New Roman" panose="02020603050405020304" pitchFamily="18" charset="0"/>
              </a:rPr>
              <a:t>Presentation du projet: context, objectif, public cible</a:t>
            </a:r>
          </a:p>
          <a:p>
            <a:r>
              <a:rPr lang="en-US" dirty="0">
                <a:latin typeface="Times New Roman" panose="02020603050405020304" pitchFamily="18" charset="0"/>
                <a:cs typeface="Times New Roman" panose="02020603050405020304" pitchFamily="18" charset="0"/>
              </a:rPr>
              <a:t>Choix de design: palette(code hex ),police(justification),inspirations</a:t>
            </a:r>
          </a:p>
          <a:p>
            <a:r>
              <a:rPr lang="fr-FR" dirty="0">
                <a:latin typeface="Times New Roman" panose="02020603050405020304" pitchFamily="18" charset="0"/>
                <a:cs typeface="Times New Roman" panose="02020603050405020304" pitchFamily="18" charset="0"/>
              </a:rPr>
              <a:t>Architecture du site</a:t>
            </a:r>
          </a:p>
          <a:p>
            <a:r>
              <a:rPr lang="fr-FR" dirty="0">
                <a:latin typeface="Times New Roman" panose="02020603050405020304" pitchFamily="18" charset="0"/>
                <a:cs typeface="Times New Roman" panose="02020603050405020304" pitchFamily="18" charset="0"/>
              </a:rPr>
              <a:t>Points techniques</a:t>
            </a:r>
          </a:p>
          <a:p>
            <a:r>
              <a:rPr lang="fr-FR" dirty="0">
                <a:latin typeface="Times New Roman" panose="02020603050405020304" pitchFamily="18" charset="0"/>
                <a:cs typeface="Times New Roman" panose="02020603050405020304" pitchFamily="18" charset="0"/>
              </a:rPr>
              <a:t>GitHub et déploiement</a:t>
            </a:r>
          </a:p>
          <a:p>
            <a:r>
              <a:rPr lang="fr-FR" dirty="0">
                <a:latin typeface="Times New Roman" panose="02020603050405020304" pitchFamily="18" charset="0"/>
                <a:cs typeface="Times New Roman" panose="02020603050405020304" pitchFamily="18" charset="0"/>
              </a:rPr>
              <a:t>Difficultés rencontrees</a:t>
            </a:r>
          </a:p>
          <a:p>
            <a:r>
              <a:rPr lang="fr-FR" dirty="0">
                <a:latin typeface="Times New Roman" panose="02020603050405020304" pitchFamily="18" charset="0"/>
                <a:cs typeface="Times New Roman" panose="02020603050405020304" pitchFamily="18" charset="0"/>
              </a:rPr>
              <a:t>Resources utilisees</a:t>
            </a:r>
          </a:p>
          <a:p>
            <a:r>
              <a:rPr lang="fr-FR" dirty="0">
                <a:latin typeface="Times New Roman" panose="02020603050405020304" pitchFamily="18" charset="0"/>
                <a:cs typeface="Times New Roman" panose="02020603050405020304" pitchFamily="18" charset="0"/>
              </a:rPr>
              <a:t>Demonstration</a:t>
            </a:r>
          </a:p>
          <a:p>
            <a:r>
              <a:rPr lang="fr-FR" dirty="0">
                <a:latin typeface="Times New Roman" panose="02020603050405020304" pitchFamily="18" charset="0"/>
                <a:cs typeface="Times New Roman" panose="02020603050405020304" pitchFamily="18" charset="0"/>
              </a:rPr>
              <a:t>Conclusion</a:t>
            </a:r>
          </a:p>
          <a:p>
            <a:endParaRPr lang="fr-F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127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DCC598-D2E5-4EAE-90BF-8B7A7F6B06ED}"/>
              </a:ext>
            </a:extLst>
          </p:cNvPr>
          <p:cNvSpPr>
            <a:spLocks noGrp="1"/>
          </p:cNvSpPr>
          <p:nvPr>
            <p:ph type="title"/>
          </p:nvPr>
        </p:nvSpPr>
        <p:spPr>
          <a:xfrm>
            <a:off x="666751" y="342420"/>
            <a:ext cx="10331449" cy="1049235"/>
          </a:xfrm>
        </p:spPr>
        <p:txBody>
          <a:bodyPr>
            <a:noAutofit/>
          </a:bodyPr>
          <a:lstStyle/>
          <a:p>
            <a:r>
              <a:rPr lang="en-US" sz="5400" b="1" dirty="0">
                <a:latin typeface="Times New Roman" panose="02020603050405020304" pitchFamily="18" charset="0"/>
                <a:cs typeface="Times New Roman" panose="02020603050405020304" pitchFamily="18" charset="0"/>
              </a:rPr>
              <a:t>Presentation du PROJET</a:t>
            </a:r>
            <a:endParaRPr lang="fr-FR" sz="5400" b="1" dirty="0">
              <a:latin typeface="Times New Roman" panose="02020603050405020304" pitchFamily="18" charset="0"/>
              <a:cs typeface="Times New Roman" panose="02020603050405020304" pitchFamily="18" charset="0"/>
            </a:endParaRPr>
          </a:p>
        </p:txBody>
      </p:sp>
      <p:sp>
        <p:nvSpPr>
          <p:cNvPr id="3" name="Espace réservé du contenu 2">
            <a:extLst>
              <a:ext uri="{FF2B5EF4-FFF2-40B4-BE49-F238E27FC236}">
                <a16:creationId xmlns:a16="http://schemas.microsoft.com/office/drawing/2014/main" id="{00BFA8BB-661B-420A-AD75-3FF8629B1AE3}"/>
              </a:ext>
            </a:extLst>
          </p:cNvPr>
          <p:cNvSpPr>
            <a:spLocks noGrp="1"/>
          </p:cNvSpPr>
          <p:nvPr>
            <p:ph idx="1"/>
          </p:nvPr>
        </p:nvSpPr>
        <p:spPr>
          <a:xfrm>
            <a:off x="930879" y="2015732"/>
            <a:ext cx="9603275" cy="3450613"/>
          </a:xfrm>
        </p:spPr>
        <p:txBody>
          <a:bodyPr>
            <a:normAutofit/>
          </a:bodyPr>
          <a:lstStyle/>
          <a:p>
            <a:pPr algn="just"/>
            <a:r>
              <a:rPr lang="fr-FR" dirty="0">
                <a:latin typeface="Times New Roman" panose="02020603050405020304" pitchFamily="18" charset="0"/>
                <a:cs typeface="Times New Roman" panose="02020603050405020304" pitchFamily="18" charset="0"/>
              </a:rPr>
              <a:t>“AfriTalent est une plateforme web qui met en relation des freelances africains et des entreprises. Le but est de valoriser les talents africains, faciliter l’accès aux missions et créer des opportunités professionnelles. Le public ciblé est constitué des freelances, des entreprises et des jeunes talents souhaitant travailler dans le numérique.”</a:t>
            </a:r>
          </a:p>
          <a:p>
            <a:pPr algn="just"/>
            <a:endParaRPr lang="fr-F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2595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45D268-4907-4BF4-816D-F16147035B03}"/>
              </a:ext>
            </a:extLst>
          </p:cNvPr>
          <p:cNvSpPr>
            <a:spLocks noGrp="1"/>
          </p:cNvSpPr>
          <p:nvPr>
            <p:ph type="title"/>
          </p:nvPr>
        </p:nvSpPr>
        <p:spPr/>
        <p:txBody>
          <a:bodyPr>
            <a:normAutofit/>
          </a:bodyPr>
          <a:lstStyle/>
          <a:p>
            <a:pPr algn="ctr"/>
            <a:r>
              <a:rPr lang="en-US" sz="6600" dirty="0"/>
              <a:t>CHOIX DE DESIGN</a:t>
            </a:r>
            <a:endParaRPr lang="fr-FR" sz="6600" dirty="0"/>
          </a:p>
        </p:txBody>
      </p:sp>
      <p:sp>
        <p:nvSpPr>
          <p:cNvPr id="6" name="Rectangle 3">
            <a:extLst>
              <a:ext uri="{FF2B5EF4-FFF2-40B4-BE49-F238E27FC236}">
                <a16:creationId xmlns:a16="http://schemas.microsoft.com/office/drawing/2014/main" id="{86A5090D-B823-4755-B16E-F24CDE95ABB2}"/>
              </a:ext>
            </a:extLst>
          </p:cNvPr>
          <p:cNvSpPr>
            <a:spLocks noGrp="1" noChangeArrowheads="1"/>
          </p:cNvSpPr>
          <p:nvPr>
            <p:ph idx="1"/>
          </p:nvPr>
        </p:nvSpPr>
        <p:spPr bwMode="auto">
          <a:xfrm>
            <a:off x="438150" y="2220187"/>
            <a:ext cx="934531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buClrTx/>
              <a:buSzTx/>
            </a:pPr>
            <a:r>
              <a:rPr kumimoji="0" lang="fr-FR" altLang="fr-FR" sz="1800"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“Pour le design, j’ai choisi une palette dominée par le bleu #0d6efd</a:t>
            </a:r>
          </a:p>
          <a:p>
            <a:pPr algn="just" eaLnBrk="0" fontAlgn="base" hangingPunct="0">
              <a:lnSpc>
                <a:spcPct val="100000"/>
              </a:lnSpc>
              <a:spcBef>
                <a:spcPct val="0"/>
              </a:spcBef>
              <a:spcAft>
                <a:spcPct val="0"/>
              </a:spcAft>
              <a:buClrTx/>
              <a:buSzTx/>
            </a:pPr>
            <a:r>
              <a:rPr kumimoji="0" lang="fr-FR" altLang="fr-FR" sz="1800"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 pour représenter la confiance et le numérique, avec le jaune #ffc107 comme couleur d’accent.</a:t>
            </a:r>
          </a:p>
          <a:p>
            <a:pPr algn="just" eaLnBrk="0" fontAlgn="base" hangingPunct="0">
              <a:lnSpc>
                <a:spcPct val="100000"/>
              </a:lnSpc>
              <a:spcBef>
                <a:spcPct val="0"/>
              </a:spcBef>
              <a:spcAft>
                <a:spcPct val="0"/>
              </a:spcAft>
              <a:buClrTx/>
              <a:buSzTx/>
            </a:pPr>
            <a:r>
              <a:rPr kumimoji="0" lang="fr-FR" altLang="fr-FR" sz="1800"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 J’ai utilisé Poppins pour les titres et Inter pour les textes afin d’améliorer la lisibilité.</a:t>
            </a:r>
          </a:p>
          <a:p>
            <a:pPr algn="just" eaLnBrk="0" fontAlgn="base" hangingPunct="0">
              <a:lnSpc>
                <a:spcPct val="100000"/>
              </a:lnSpc>
              <a:spcBef>
                <a:spcPct val="0"/>
              </a:spcBef>
              <a:spcAft>
                <a:spcPct val="0"/>
              </a:spcAft>
              <a:buClrTx/>
              <a:buSzTx/>
            </a:pPr>
            <a:r>
              <a:rPr kumimoji="0" lang="fr-FR" altLang="fr-FR" sz="1800" b="0" i="0" u="none" strike="noStrike" cap="none" normalizeH="0" baseline="0" dirty="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 Je me suis inspirée de plateformes comme Upwork, Fiverr et Bootstrap pour créer une interface moderne, professionnelle et responsive.” </a:t>
            </a:r>
          </a:p>
        </p:txBody>
      </p:sp>
    </p:spTree>
    <p:extLst>
      <p:ext uri="{BB962C8B-B14F-4D97-AF65-F5344CB8AC3E}">
        <p14:creationId xmlns:p14="http://schemas.microsoft.com/office/powerpoint/2010/main" val="40396256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36091E-12AF-434E-91D2-99775312E3B5}"/>
              </a:ext>
            </a:extLst>
          </p:cNvPr>
          <p:cNvSpPr>
            <a:spLocks noGrp="1"/>
          </p:cNvSpPr>
          <p:nvPr>
            <p:ph type="title"/>
          </p:nvPr>
        </p:nvSpPr>
        <p:spPr/>
        <p:txBody>
          <a:bodyPr/>
          <a:lstStyle/>
          <a:p>
            <a:r>
              <a:rPr lang="en-US" dirty="0"/>
              <a:t>              ARCHITECTURE</a:t>
            </a:r>
            <a:endParaRPr lang="fr-FR" dirty="0"/>
          </a:p>
        </p:txBody>
      </p:sp>
      <p:sp>
        <p:nvSpPr>
          <p:cNvPr id="3" name="Espace réservé du contenu 2">
            <a:extLst>
              <a:ext uri="{FF2B5EF4-FFF2-40B4-BE49-F238E27FC236}">
                <a16:creationId xmlns:a16="http://schemas.microsoft.com/office/drawing/2014/main" id="{3E6A523B-94DC-46F3-B76E-BE99B9C8341A}"/>
              </a:ext>
            </a:extLst>
          </p:cNvPr>
          <p:cNvSpPr>
            <a:spLocks noGrp="1"/>
          </p:cNvSpPr>
          <p:nvPr>
            <p:ph idx="1"/>
          </p:nvPr>
        </p:nvSpPr>
        <p:spPr>
          <a:xfrm>
            <a:off x="1451579" y="2015732"/>
            <a:ext cx="9603275" cy="4037749"/>
          </a:xfrm>
        </p:spPr>
        <p:txBody>
          <a:bodyPr>
            <a:noAutofit/>
          </a:bodyPr>
          <a:lstStyle/>
          <a:p>
            <a:r>
              <a:rPr lang="fr-FR" sz="900" dirty="0">
                <a:latin typeface="Times New Roman" panose="02020603050405020304" pitchFamily="18" charset="0"/>
                <a:cs typeface="Times New Roman" panose="02020603050405020304" pitchFamily="18" charset="0"/>
              </a:rPr>
              <a:t>OM-</a:t>
            </a:r>
            <a:r>
              <a:rPr lang="fr-FR" sz="900" dirty="0" err="1">
                <a:latin typeface="Times New Roman" panose="02020603050405020304" pitchFamily="18" charset="0"/>
                <a:cs typeface="Times New Roman" panose="02020603050405020304" pitchFamily="18" charset="0"/>
              </a:rPr>
              <a:t>Prenom</a:t>
            </a:r>
            <a:r>
              <a:rPr lang="fr-FR" sz="900" dirty="0">
                <a:latin typeface="Times New Roman" panose="02020603050405020304" pitchFamily="18" charset="0"/>
                <a:cs typeface="Times New Roman" panose="02020603050405020304" pitchFamily="18" charset="0"/>
              </a:rPr>
              <a:t>-AfriTalent/</a:t>
            </a:r>
            <a:br>
              <a:rPr lang="fr-FR" sz="900" dirty="0">
                <a:latin typeface="Times New Roman" panose="02020603050405020304" pitchFamily="18" charset="0"/>
                <a:cs typeface="Times New Roman" panose="02020603050405020304" pitchFamily="18" charset="0"/>
              </a:rPr>
            </a:br>
            <a:r>
              <a:rPr lang="fr-FR" sz="900" dirty="0">
                <a:latin typeface="Times New Roman" panose="02020603050405020304" pitchFamily="18" charset="0"/>
                <a:cs typeface="Times New Roman" panose="02020603050405020304" pitchFamily="18" charset="0"/>
              </a:rPr>
              <a:t>│</a:t>
            </a:r>
            <a:br>
              <a:rPr lang="fr-FR" sz="900" dirty="0">
                <a:latin typeface="Times New Roman" panose="02020603050405020304" pitchFamily="18" charset="0"/>
                <a:cs typeface="Times New Roman" panose="02020603050405020304" pitchFamily="18" charset="0"/>
              </a:rPr>
            </a:br>
            <a:r>
              <a:rPr lang="fr-FR" sz="900" dirty="0">
                <a:latin typeface="Times New Roman" panose="02020603050405020304" pitchFamily="18" charset="0"/>
                <a:cs typeface="Times New Roman" panose="02020603050405020304" pitchFamily="18" charset="0"/>
              </a:rPr>
              <a:t>├── index.html → Page d’accueil</a:t>
            </a:r>
            <a:br>
              <a:rPr lang="fr-FR" sz="900" dirty="0">
                <a:latin typeface="Times New Roman" panose="02020603050405020304" pitchFamily="18" charset="0"/>
                <a:cs typeface="Times New Roman" panose="02020603050405020304" pitchFamily="18" charset="0"/>
              </a:rPr>
            </a:br>
            <a:r>
              <a:rPr lang="fr-FR" sz="900" dirty="0">
                <a:latin typeface="Times New Roman" panose="02020603050405020304" pitchFamily="18" charset="0"/>
                <a:cs typeface="Times New Roman" panose="02020603050405020304" pitchFamily="18" charset="0"/>
              </a:rPr>
              <a:t>├── freelances.html → Liste des freelances disponibles</a:t>
            </a:r>
            <a:br>
              <a:rPr lang="fr-FR" sz="900" dirty="0">
                <a:latin typeface="Times New Roman" panose="02020603050405020304" pitchFamily="18" charset="0"/>
                <a:cs typeface="Times New Roman" panose="02020603050405020304" pitchFamily="18" charset="0"/>
              </a:rPr>
            </a:br>
            <a:r>
              <a:rPr lang="fr-FR" sz="900" dirty="0">
                <a:latin typeface="Times New Roman" panose="02020603050405020304" pitchFamily="18" charset="0"/>
                <a:cs typeface="Times New Roman" panose="02020603050405020304" pitchFamily="18" charset="0"/>
              </a:rPr>
              <a:t>├── tarifs.html → Présentation des offres et tarifs</a:t>
            </a:r>
            <a:br>
              <a:rPr lang="fr-FR" sz="900" dirty="0">
                <a:latin typeface="Times New Roman" panose="02020603050405020304" pitchFamily="18" charset="0"/>
                <a:cs typeface="Times New Roman" panose="02020603050405020304" pitchFamily="18" charset="0"/>
              </a:rPr>
            </a:br>
            <a:r>
              <a:rPr lang="fr-FR" sz="900" dirty="0">
                <a:latin typeface="Times New Roman" panose="02020603050405020304" pitchFamily="18" charset="0"/>
                <a:cs typeface="Times New Roman" panose="02020603050405020304" pitchFamily="18" charset="0"/>
              </a:rPr>
              <a:t>├── about.html → Présentation de la plateforme et de l’équipe</a:t>
            </a:r>
            <a:br>
              <a:rPr lang="fr-FR" sz="900" dirty="0">
                <a:latin typeface="Times New Roman" panose="02020603050405020304" pitchFamily="18" charset="0"/>
                <a:cs typeface="Times New Roman" panose="02020603050405020304" pitchFamily="18" charset="0"/>
              </a:rPr>
            </a:br>
            <a:r>
              <a:rPr lang="fr-FR" sz="900" dirty="0">
                <a:latin typeface="Times New Roman" panose="02020603050405020304" pitchFamily="18" charset="0"/>
                <a:cs typeface="Times New Roman" panose="02020603050405020304" pitchFamily="18" charset="0"/>
              </a:rPr>
              <a:t>├── contact.html → Formulaire de contact</a:t>
            </a:r>
            <a:br>
              <a:rPr lang="fr-FR" sz="900" dirty="0">
                <a:latin typeface="Times New Roman" panose="02020603050405020304" pitchFamily="18" charset="0"/>
                <a:cs typeface="Times New Roman" panose="02020603050405020304" pitchFamily="18" charset="0"/>
              </a:rPr>
            </a:br>
            <a:r>
              <a:rPr lang="fr-FR" sz="900" dirty="0">
                <a:latin typeface="Times New Roman" panose="02020603050405020304" pitchFamily="18" charset="0"/>
                <a:cs typeface="Times New Roman" panose="02020603050405020304" pitchFamily="18" charset="0"/>
              </a:rPr>
              <a:t>│</a:t>
            </a:r>
            <a:br>
              <a:rPr lang="fr-FR" sz="900" dirty="0">
                <a:latin typeface="Times New Roman" panose="02020603050405020304" pitchFamily="18" charset="0"/>
                <a:cs typeface="Times New Roman" panose="02020603050405020304" pitchFamily="18" charset="0"/>
              </a:rPr>
            </a:br>
            <a:r>
              <a:rPr lang="fr-FR" sz="900" dirty="0">
                <a:latin typeface="Times New Roman" panose="02020603050405020304" pitchFamily="18" charset="0"/>
                <a:cs typeface="Times New Roman" panose="02020603050405020304" pitchFamily="18" charset="0"/>
              </a:rPr>
              <a:t>├── ccs/</a:t>
            </a:r>
            <a:br>
              <a:rPr lang="fr-FR" sz="900" dirty="0">
                <a:latin typeface="Times New Roman" panose="02020603050405020304" pitchFamily="18" charset="0"/>
                <a:cs typeface="Times New Roman" panose="02020603050405020304" pitchFamily="18" charset="0"/>
              </a:rPr>
            </a:br>
            <a:r>
              <a:rPr lang="fr-FR" sz="900" dirty="0">
                <a:latin typeface="Times New Roman" panose="02020603050405020304" pitchFamily="18" charset="0"/>
                <a:cs typeface="Times New Roman" panose="02020603050405020304" pitchFamily="18" charset="0"/>
              </a:rPr>
              <a:t>│ └── style.css → Fichier contenant tous les styles CSS</a:t>
            </a:r>
            <a:br>
              <a:rPr lang="fr-FR" sz="900" dirty="0">
                <a:latin typeface="Times New Roman" panose="02020603050405020304" pitchFamily="18" charset="0"/>
                <a:cs typeface="Times New Roman" panose="02020603050405020304" pitchFamily="18" charset="0"/>
              </a:rPr>
            </a:br>
            <a:r>
              <a:rPr lang="fr-FR" sz="900" dirty="0">
                <a:latin typeface="Times New Roman" panose="02020603050405020304" pitchFamily="18" charset="0"/>
                <a:cs typeface="Times New Roman" panose="02020603050405020304" pitchFamily="18" charset="0"/>
              </a:rPr>
              <a:t>│</a:t>
            </a:r>
            <a:br>
              <a:rPr lang="fr-FR" sz="900" dirty="0">
                <a:latin typeface="Times New Roman" panose="02020603050405020304" pitchFamily="18" charset="0"/>
                <a:cs typeface="Times New Roman" panose="02020603050405020304" pitchFamily="18" charset="0"/>
              </a:rPr>
            </a:br>
            <a:r>
              <a:rPr lang="fr-FR" sz="900" dirty="0">
                <a:latin typeface="Times New Roman" panose="02020603050405020304" pitchFamily="18" charset="0"/>
                <a:cs typeface="Times New Roman" panose="02020603050405020304" pitchFamily="18" charset="0"/>
              </a:rPr>
              <a:t>├── Js/</a:t>
            </a:r>
            <a:br>
              <a:rPr lang="fr-FR" sz="900" dirty="0">
                <a:latin typeface="Times New Roman" panose="02020603050405020304" pitchFamily="18" charset="0"/>
                <a:cs typeface="Times New Roman" panose="02020603050405020304" pitchFamily="18" charset="0"/>
              </a:rPr>
            </a:br>
            <a:r>
              <a:rPr lang="fr-FR" sz="900" dirty="0">
                <a:latin typeface="Times New Roman" panose="02020603050405020304" pitchFamily="18" charset="0"/>
                <a:cs typeface="Times New Roman" panose="02020603050405020304" pitchFamily="18" charset="0"/>
              </a:rPr>
              <a:t>│ └── main.js → Code JavaScript pour les interactions</a:t>
            </a:r>
            <a:br>
              <a:rPr lang="fr-FR" sz="900" dirty="0">
                <a:latin typeface="Times New Roman" panose="02020603050405020304" pitchFamily="18" charset="0"/>
                <a:cs typeface="Times New Roman" panose="02020603050405020304" pitchFamily="18" charset="0"/>
              </a:rPr>
            </a:br>
            <a:r>
              <a:rPr lang="fr-FR" sz="900" dirty="0">
                <a:latin typeface="Times New Roman" panose="02020603050405020304" pitchFamily="18" charset="0"/>
                <a:cs typeface="Times New Roman" panose="02020603050405020304" pitchFamily="18" charset="0"/>
              </a:rPr>
              <a:t>│</a:t>
            </a:r>
            <a:br>
              <a:rPr lang="fr-FR" sz="900" dirty="0">
                <a:latin typeface="Times New Roman" panose="02020603050405020304" pitchFamily="18" charset="0"/>
                <a:cs typeface="Times New Roman" panose="02020603050405020304" pitchFamily="18" charset="0"/>
              </a:rPr>
            </a:br>
            <a:r>
              <a:rPr lang="fr-FR" sz="900" dirty="0">
                <a:latin typeface="Times New Roman" panose="02020603050405020304" pitchFamily="18" charset="0"/>
                <a:cs typeface="Times New Roman" panose="02020603050405020304" pitchFamily="18" charset="0"/>
              </a:rPr>
              <a:t>├── images/</a:t>
            </a:r>
            <a:br>
              <a:rPr lang="fr-FR" sz="900" dirty="0">
                <a:latin typeface="Times New Roman" panose="02020603050405020304" pitchFamily="18" charset="0"/>
                <a:cs typeface="Times New Roman" panose="02020603050405020304" pitchFamily="18" charset="0"/>
              </a:rPr>
            </a:br>
            <a:r>
              <a:rPr lang="fr-FR" sz="900" dirty="0">
                <a:latin typeface="Times New Roman" panose="02020603050405020304" pitchFamily="18" charset="0"/>
                <a:cs typeface="Times New Roman" panose="02020603050405020304" pitchFamily="18" charset="0"/>
              </a:rPr>
              <a:t>│ └── (...) → Logo, avatars, illustrations, photos</a:t>
            </a:r>
            <a:br>
              <a:rPr lang="fr-FR" sz="900" dirty="0">
                <a:latin typeface="Times New Roman" panose="02020603050405020304" pitchFamily="18" charset="0"/>
                <a:cs typeface="Times New Roman" panose="02020603050405020304" pitchFamily="18" charset="0"/>
              </a:rPr>
            </a:br>
            <a:r>
              <a:rPr lang="fr-FR" sz="900" dirty="0">
                <a:latin typeface="Times New Roman" panose="02020603050405020304" pitchFamily="18" charset="0"/>
                <a:cs typeface="Times New Roman" panose="02020603050405020304" pitchFamily="18" charset="0"/>
              </a:rPr>
              <a:t>│</a:t>
            </a:r>
            <a:br>
              <a:rPr lang="fr-FR" sz="900" dirty="0">
                <a:latin typeface="Times New Roman" panose="02020603050405020304" pitchFamily="18" charset="0"/>
                <a:cs typeface="Times New Roman" panose="02020603050405020304" pitchFamily="18" charset="0"/>
              </a:rPr>
            </a:br>
            <a:r>
              <a:rPr lang="fr-FR" sz="900" dirty="0">
                <a:latin typeface="Times New Roman" panose="02020603050405020304" pitchFamily="18" charset="0"/>
                <a:cs typeface="Times New Roman" panose="02020603050405020304" pitchFamily="18" charset="0"/>
              </a:rPr>
              <a:t>├── docs/</a:t>
            </a:r>
            <a:br>
              <a:rPr lang="fr-FR" sz="900" dirty="0">
                <a:latin typeface="Times New Roman" panose="02020603050405020304" pitchFamily="18" charset="0"/>
                <a:cs typeface="Times New Roman" panose="02020603050405020304" pitchFamily="18" charset="0"/>
              </a:rPr>
            </a:br>
            <a:r>
              <a:rPr lang="fr-FR" sz="900" dirty="0">
                <a:latin typeface="Times New Roman" panose="02020603050405020304" pitchFamily="18" charset="0"/>
                <a:cs typeface="Times New Roman" panose="02020603050405020304" pitchFamily="18" charset="0"/>
              </a:rPr>
              <a:t>│ └── NOM_Prenom_Presentation.pptx</a:t>
            </a:r>
            <a:br>
              <a:rPr lang="fr-FR" sz="900" dirty="0">
                <a:latin typeface="Times New Roman" panose="02020603050405020304" pitchFamily="18" charset="0"/>
                <a:cs typeface="Times New Roman" panose="02020603050405020304" pitchFamily="18" charset="0"/>
              </a:rPr>
            </a:br>
            <a:r>
              <a:rPr lang="fr-FR" sz="900" dirty="0">
                <a:latin typeface="Times New Roman" panose="02020603050405020304" pitchFamily="18" charset="0"/>
                <a:cs typeface="Times New Roman" panose="02020603050405020304" pitchFamily="18" charset="0"/>
              </a:rPr>
              <a:t>│ → Présentation du projet</a:t>
            </a:r>
            <a:br>
              <a:rPr lang="fr-FR" sz="900" dirty="0">
                <a:latin typeface="Times New Roman" panose="02020603050405020304" pitchFamily="18" charset="0"/>
                <a:cs typeface="Times New Roman" panose="02020603050405020304" pitchFamily="18" charset="0"/>
              </a:rPr>
            </a:br>
            <a:r>
              <a:rPr lang="fr-FR" sz="900" dirty="0">
                <a:latin typeface="Times New Roman" panose="02020603050405020304" pitchFamily="18" charset="0"/>
                <a:cs typeface="Times New Roman" panose="02020603050405020304" pitchFamily="18" charset="0"/>
              </a:rPr>
              <a:t>│</a:t>
            </a:r>
            <a:br>
              <a:rPr lang="fr-FR" sz="900" dirty="0">
                <a:latin typeface="Times New Roman" panose="02020603050405020304" pitchFamily="18" charset="0"/>
                <a:cs typeface="Times New Roman" panose="02020603050405020304" pitchFamily="18" charset="0"/>
              </a:rPr>
            </a:br>
            <a:r>
              <a:rPr lang="fr-FR" sz="900" dirty="0">
                <a:latin typeface="Times New Roman" panose="02020603050405020304" pitchFamily="18" charset="0"/>
                <a:cs typeface="Times New Roman" panose="02020603050405020304" pitchFamily="18" charset="0"/>
              </a:rPr>
              <a:t>├── README.md → Documentation du projet</a:t>
            </a:r>
            <a:br>
              <a:rPr lang="fr-FR" sz="900" dirty="0">
                <a:latin typeface="Times New Roman" panose="02020603050405020304" pitchFamily="18" charset="0"/>
                <a:cs typeface="Times New Roman" panose="02020603050405020304" pitchFamily="18" charset="0"/>
              </a:rPr>
            </a:br>
            <a:r>
              <a:rPr lang="fr-FR" sz="900" dirty="0">
                <a:latin typeface="Times New Roman" panose="02020603050405020304" pitchFamily="18" charset="0"/>
                <a:cs typeface="Times New Roman" panose="02020603050405020304" pitchFamily="18" charset="0"/>
              </a:rPr>
              <a:t>│</a:t>
            </a:r>
            <a:br>
              <a:rPr lang="fr-FR" sz="900" dirty="0">
                <a:latin typeface="Times New Roman" panose="02020603050405020304" pitchFamily="18" charset="0"/>
                <a:cs typeface="Times New Roman" panose="02020603050405020304" pitchFamily="18" charset="0"/>
              </a:rPr>
            </a:br>
            <a:r>
              <a:rPr lang="fr-FR" sz="900" dirty="0">
                <a:latin typeface="Times New Roman" panose="02020603050405020304" pitchFamily="18" charset="0"/>
                <a:cs typeface="Times New Roman" panose="02020603050405020304" pitchFamily="18" charset="0"/>
              </a:rPr>
              <a:t>└── .gitignore → Fichiers ignorés par Git</a:t>
            </a:r>
          </a:p>
        </p:txBody>
      </p:sp>
    </p:spTree>
    <p:extLst>
      <p:ext uri="{BB962C8B-B14F-4D97-AF65-F5344CB8AC3E}">
        <p14:creationId xmlns:p14="http://schemas.microsoft.com/office/powerpoint/2010/main" val="3785464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F8558E7-64B4-4DF7-B336-5F22C850B56C}"/>
              </a:ext>
            </a:extLst>
          </p:cNvPr>
          <p:cNvSpPr>
            <a:spLocks noGrp="1"/>
          </p:cNvSpPr>
          <p:nvPr>
            <p:ph type="title"/>
          </p:nvPr>
        </p:nvSpPr>
        <p:spPr/>
        <p:txBody>
          <a:bodyPr>
            <a:normAutofit/>
          </a:bodyPr>
          <a:lstStyle/>
          <a:p>
            <a:pPr algn="ctr"/>
            <a:r>
              <a:rPr lang="en-US" sz="6600" dirty="0">
                <a:latin typeface="Times New Roman" panose="02020603050405020304" pitchFamily="18" charset="0"/>
                <a:cs typeface="Times New Roman" panose="02020603050405020304" pitchFamily="18" charset="0"/>
              </a:rPr>
              <a:t>GITHUB</a:t>
            </a:r>
            <a:endParaRPr lang="fr-FR" sz="66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15839190-9176-4424-BB9A-9F0F1C167333}"/>
              </a:ext>
            </a:extLst>
          </p:cNvPr>
          <p:cNvSpPr>
            <a:spLocks noGrp="1" noChangeArrowheads="1"/>
          </p:cNvSpPr>
          <p:nvPr>
            <p:ph idx="1"/>
          </p:nvPr>
        </p:nvSpPr>
        <p:spPr bwMode="auto">
          <a:xfrm>
            <a:off x="-875981" y="2586878"/>
            <a:ext cx="1357598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Commits</a:t>
            </a:r>
            <a:br>
              <a:rPr kumimoji="0" lang="fr-FR" altLang="fr-FR"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fr-FR" altLang="fr-FR"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-J’ai sauvegardé chaque étape du projet avec des </a:t>
            </a:r>
            <a:r>
              <a:rPr kumimoji="0" lang="fr-FR" altLang="fr-FR"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commits</a:t>
            </a:r>
            <a:r>
              <a:rPr kumimoji="0" lang="fr-FR" altLang="fr-FR"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Workflow Git</a:t>
            </a:r>
            <a:br>
              <a:rPr kumimoji="0" lang="fr-FR" altLang="fr-FR"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fr-FR" altLang="fr-FR"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-J’ai utilisé </a:t>
            </a:r>
            <a:r>
              <a:rPr kumimoji="0" lang="fr-FR" altLang="fr-FR"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git</a:t>
            </a:r>
            <a:r>
              <a:rPr kumimoji="0" lang="fr-FR" altLang="fr-FR"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FR" altLang="fr-FR"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a:t>
            </a:r>
            <a:r>
              <a:rPr kumimoji="0" lang="fr-FR" altLang="fr-FR"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 </a:t>
            </a:r>
            <a:r>
              <a:rPr kumimoji="0" lang="fr-FR" altLang="fr-FR"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git</a:t>
            </a:r>
            <a:r>
              <a:rPr kumimoji="0" lang="fr-FR" altLang="fr-FR"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FR" altLang="fr-FR"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commit</a:t>
            </a:r>
            <a:r>
              <a:rPr kumimoji="0" lang="fr-FR" altLang="fr-FR"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 et </a:t>
            </a:r>
            <a:r>
              <a:rPr kumimoji="0" lang="fr-FR" altLang="fr-FR"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git</a:t>
            </a:r>
            <a:r>
              <a:rPr kumimoji="0" lang="fr-FR" altLang="fr-FR"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FR" altLang="fr-FR"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push</a:t>
            </a:r>
            <a:r>
              <a:rPr kumimoji="0" lang="fr-FR" altLang="fr-FR"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fr-FR" altLang="fr-FR" sz="2400" b="1" dirty="0">
                <a:latin typeface="Times New Roman" panose="02020603050405020304" pitchFamily="18" charset="0"/>
                <a:cs typeface="Times New Roman" panose="02020603050405020304" pitchFamily="18" charset="0"/>
              </a:rPr>
              <a:t>ORIGIN</a:t>
            </a:r>
            <a:r>
              <a:rPr lang="fr-FR" altLang="fr-FR" sz="2400" dirty="0">
                <a:latin typeface="Times New Roman" panose="02020603050405020304" pitchFamily="18" charset="0"/>
                <a:cs typeface="Times New Roman" panose="02020603050405020304" pitchFamily="18" charset="0"/>
              </a:rPr>
              <a:t> </a:t>
            </a:r>
            <a:r>
              <a:rPr kumimoji="0" lang="fr-FR" altLang="fr-FR"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pour gérer les versions.</a:t>
            </a:r>
          </a:p>
          <a:p>
            <a:pPr marL="0" marR="0" lvl="0" indent="0" algn="ctr" defTabSz="914400" rtl="0" eaLnBrk="0" fontAlgn="base" latinLnBrk="0" hangingPunct="0">
              <a:lnSpc>
                <a:spcPct val="100000"/>
              </a:lnSpc>
              <a:spcBef>
                <a:spcPct val="0"/>
              </a:spcBef>
              <a:spcAft>
                <a:spcPct val="0"/>
              </a:spcAft>
              <a:buClrTx/>
              <a:buSzTx/>
              <a:buFontTx/>
              <a:buNone/>
              <a:tabLst/>
            </a:pPr>
            <a:r>
              <a:rPr lang="fr-FR" sz="2400" b="1" dirty="0">
                <a:latin typeface="Times New Roman" panose="02020603050405020304" pitchFamily="18" charset="0"/>
                <a:cs typeface="Times New Roman" panose="02020603050405020304" pitchFamily="18" charset="0"/>
              </a:rPr>
              <a:t>. GitHub Pages</a:t>
            </a:r>
            <a:br>
              <a:rPr lang="fr-FR" sz="2400" dirty="0">
                <a:latin typeface="Times New Roman" panose="02020603050405020304" pitchFamily="18" charset="0"/>
                <a:cs typeface="Times New Roman" panose="02020603050405020304" pitchFamily="18" charset="0"/>
              </a:rPr>
            </a:br>
            <a:r>
              <a:rPr lang="fr-FR" sz="2400" dirty="0">
                <a:latin typeface="Times New Roman" panose="02020603050405020304" pitchFamily="18" charset="0"/>
                <a:cs typeface="Times New Roman" panose="02020603050405020304" pitchFamily="18" charset="0"/>
              </a:rPr>
              <a:t>- J’ai publié le projet en ligne pour le rendre accessible et testable.</a:t>
            </a:r>
            <a:endParaRPr kumimoji="0" lang="fr-FR" altLang="fr-FR"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7733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3BD4AB-80C0-4CF6-B1ED-63EE2684022D}"/>
              </a:ext>
            </a:extLst>
          </p:cNvPr>
          <p:cNvSpPr>
            <a:spLocks noGrp="1"/>
          </p:cNvSpPr>
          <p:nvPr>
            <p:ph type="title"/>
          </p:nvPr>
        </p:nvSpPr>
        <p:spPr/>
        <p:txBody>
          <a:bodyPr>
            <a:normAutofit/>
          </a:bodyPr>
          <a:lstStyle/>
          <a:p>
            <a:pPr algn="ctr"/>
            <a:r>
              <a:rPr lang="en-US" sz="6600" dirty="0">
                <a:latin typeface="Times New Roman" panose="02020603050405020304" pitchFamily="18" charset="0"/>
                <a:cs typeface="Times New Roman" panose="02020603050405020304" pitchFamily="18" charset="0"/>
              </a:rPr>
              <a:t>POINT TECHNIQUE</a:t>
            </a:r>
            <a:endParaRPr lang="fr-FR" sz="6600" dirty="0">
              <a:latin typeface="Times New Roman" panose="02020603050405020304" pitchFamily="18" charset="0"/>
              <a:cs typeface="Times New Roman" panose="02020603050405020304" pitchFamily="18" charset="0"/>
            </a:endParaRPr>
          </a:p>
        </p:txBody>
      </p:sp>
      <p:sp>
        <p:nvSpPr>
          <p:cNvPr id="3" name="Espace réservé du contenu 2">
            <a:extLst>
              <a:ext uri="{FF2B5EF4-FFF2-40B4-BE49-F238E27FC236}">
                <a16:creationId xmlns:a16="http://schemas.microsoft.com/office/drawing/2014/main" id="{057B64D0-1475-45EE-9768-3511F8691960}"/>
              </a:ext>
            </a:extLst>
          </p:cNvPr>
          <p:cNvSpPr>
            <a:spLocks noGrp="1"/>
          </p:cNvSpPr>
          <p:nvPr>
            <p:ph idx="1"/>
          </p:nvPr>
        </p:nvSpPr>
        <p:spPr>
          <a:xfrm>
            <a:off x="1149351" y="2015732"/>
            <a:ext cx="9905504" cy="3450613"/>
          </a:xfrm>
        </p:spPr>
        <p:txBody>
          <a:bodyPr>
            <a:normAutofit/>
          </a:bodyPr>
          <a:lstStyle/>
          <a:p>
            <a:r>
              <a:rPr lang="fr-FR" sz="2400" dirty="0">
                <a:latin typeface="Times New Roman" panose="02020603050405020304" pitchFamily="18" charset="0"/>
                <a:cs typeface="Times New Roman" panose="02020603050405020304" pitchFamily="18" charset="0"/>
              </a:rPr>
              <a:t>“J’ai utilisé JavaScript pour gérer l’interactivité du site : dark mode, navbar dynamique, compteurs animés, filtrage et validation formulaire. Bootstrap m’a permis de créer une interface responsive avec des composants prêts à l’emploi. Enfin, j’ai utilisé du CSS avancé pour les animations, le responsive design et l’amélioration visuelle.”</a:t>
            </a:r>
          </a:p>
        </p:txBody>
      </p:sp>
    </p:spTree>
    <p:extLst>
      <p:ext uri="{BB962C8B-B14F-4D97-AF65-F5344CB8AC3E}">
        <p14:creationId xmlns:p14="http://schemas.microsoft.com/office/powerpoint/2010/main" val="12244941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1FA03B-EC0F-4BEF-B66A-ABD00BB1AE7D}"/>
              </a:ext>
            </a:extLst>
          </p:cNvPr>
          <p:cNvSpPr>
            <a:spLocks noGrp="1"/>
          </p:cNvSpPr>
          <p:nvPr>
            <p:ph type="title"/>
          </p:nvPr>
        </p:nvSpPr>
        <p:spPr>
          <a:xfrm>
            <a:off x="1076929" y="163169"/>
            <a:ext cx="9603275" cy="1430681"/>
          </a:xfrm>
        </p:spPr>
        <p:txBody>
          <a:bodyPr>
            <a:noAutofit/>
          </a:bodyPr>
          <a:lstStyle/>
          <a:p>
            <a:pPr algn="ctr"/>
            <a:r>
              <a:rPr lang="en-US" sz="4800" b="1" dirty="0"/>
              <a:t> DIFFiCULTEs RENCONTRE ET SOLUTIONs</a:t>
            </a:r>
            <a:endParaRPr lang="fr-FR" sz="4800" b="1" dirty="0"/>
          </a:p>
        </p:txBody>
      </p:sp>
      <p:sp>
        <p:nvSpPr>
          <p:cNvPr id="4" name="Rectangle 1">
            <a:extLst>
              <a:ext uri="{FF2B5EF4-FFF2-40B4-BE49-F238E27FC236}">
                <a16:creationId xmlns:a16="http://schemas.microsoft.com/office/drawing/2014/main" id="{6D16FAED-D4ED-4283-BFF7-7E52EB09EC71}"/>
              </a:ext>
            </a:extLst>
          </p:cNvPr>
          <p:cNvSpPr>
            <a:spLocks noGrp="1" noChangeArrowheads="1"/>
          </p:cNvSpPr>
          <p:nvPr>
            <p:ph idx="1"/>
          </p:nvPr>
        </p:nvSpPr>
        <p:spPr bwMode="auto">
          <a:xfrm>
            <a:off x="1150577" y="2020179"/>
            <a:ext cx="4378122"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fr-FR" altLang="fr-FR"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-Les difficultes rencontre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balise &lt;section&gt; non fermée </a:t>
            </a:r>
          </a:p>
          <a:p>
            <a:pPr marL="0" marR="0" lvl="0" indent="0" algn="just" defTabSz="914400" rtl="0" eaLnBrk="0" fontAlgn="base" latinLnBrk="0" hangingPunct="0">
              <a:lnSpc>
                <a:spcPct val="100000"/>
              </a:lnSpc>
              <a:spcBef>
                <a:spcPct val="0"/>
              </a:spcBef>
              <a:spcAft>
                <a:spcPct val="0"/>
              </a:spcAft>
              <a:buClrTx/>
              <a:buSzTx/>
              <a:buFontTx/>
              <a:buChar char="•"/>
              <a:tabLst/>
            </a:pPr>
            <a:r>
              <a:rPr lang="fr-FR" altLang="fr-FR" sz="1800" dirty="0">
                <a:latin typeface="Times New Roman" panose="02020603050405020304" pitchFamily="18" charset="0"/>
                <a:cs typeface="Times New Roman" panose="02020603050405020304" pitchFamily="18" charset="0"/>
              </a:rPr>
              <a:t>Erreur des images</a:t>
            </a:r>
            <a:endParaRPr kumimoji="0" lang="fr-FR" altLang="fr-FR"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commentaire HTML mal fermé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erreur dans le lien </a:t>
            </a:r>
          </a:p>
          <a:p>
            <a:pPr marL="0" marR="0" lvl="0" indent="0" algn="just" defTabSz="914400" rtl="0" eaLnBrk="0" fontAlgn="base" latinLnBrk="0" hangingPunct="0">
              <a:lnSpc>
                <a:spcPct val="100000"/>
              </a:lnSpc>
              <a:spcBef>
                <a:spcPct val="0"/>
              </a:spcBef>
              <a:spcAft>
                <a:spcPct val="0"/>
              </a:spcAft>
              <a:buClrTx/>
              <a:buSzTx/>
              <a:buNone/>
              <a:tabLst/>
            </a:pPr>
            <a:r>
              <a:rPr kumimoji="0" lang="fr-FR" altLang="fr-FR"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-Les Solutions</a:t>
            </a:r>
          </a:p>
          <a:p>
            <a:pPr marL="0" marR="0" lvl="0" indent="0" algn="just" defTabSz="914400" rtl="0" eaLnBrk="0" fontAlgn="base" latinLnBrk="0" hangingPunct="0">
              <a:lnSpc>
                <a:spcPct val="100000"/>
              </a:lnSpc>
              <a:spcBef>
                <a:spcPct val="0"/>
              </a:spcBef>
              <a:spcAft>
                <a:spcPct val="0"/>
              </a:spcAft>
              <a:buClrTx/>
              <a:buSzTx/>
              <a:buNone/>
              <a:tabLst/>
            </a:pPr>
            <a:r>
              <a:rPr kumimoji="0" lang="fr-FR" altLang="fr-FR"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.Verification ligne par ligne du code</a:t>
            </a:r>
          </a:p>
          <a:p>
            <a:pPr marL="0" marR="0" lvl="0" indent="0" algn="just" defTabSz="914400" rtl="0" eaLnBrk="0" fontAlgn="base" latinLnBrk="0" hangingPunct="0">
              <a:lnSpc>
                <a:spcPct val="100000"/>
              </a:lnSpc>
              <a:spcBef>
                <a:spcPct val="0"/>
              </a:spcBef>
              <a:spcAft>
                <a:spcPct val="0"/>
              </a:spcAft>
              <a:buClrTx/>
              <a:buSzTx/>
              <a:buNone/>
              <a:tabLst/>
            </a:pPr>
            <a:r>
              <a:rPr lang="fr-FR" altLang="fr-FR" sz="1800" dirty="0">
                <a:latin typeface="Times New Roman" panose="02020603050405020304" pitchFamily="18" charset="0"/>
                <a:cs typeface="Times New Roman" panose="02020603050405020304" pitchFamily="18" charset="0"/>
              </a:rPr>
              <a:t>.Verification des images</a:t>
            </a:r>
          </a:p>
          <a:p>
            <a:pPr marL="0" marR="0" lvl="0" indent="0" algn="just" defTabSz="914400" rtl="0" eaLnBrk="0" fontAlgn="base" latinLnBrk="0" hangingPunct="0">
              <a:lnSpc>
                <a:spcPct val="100000"/>
              </a:lnSpc>
              <a:spcBef>
                <a:spcPct val="0"/>
              </a:spcBef>
              <a:spcAft>
                <a:spcPct val="0"/>
              </a:spcAft>
              <a:buClrTx/>
              <a:buSzTx/>
              <a:buNone/>
              <a:tabLst/>
            </a:pPr>
            <a:r>
              <a:rPr kumimoji="0" lang="fr-FR" altLang="fr-FR"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lang="fr-FR" altLang="fr-FR" sz="1800" dirty="0">
                <a:latin typeface="Times New Roman" panose="02020603050405020304" pitchFamily="18" charset="0"/>
                <a:cs typeface="Times New Roman" panose="02020603050405020304" pitchFamily="18" charset="0"/>
              </a:rPr>
              <a:t>Correction des balises ouvertes /non fermées</a:t>
            </a:r>
          </a:p>
          <a:p>
            <a:pPr marL="0" marR="0" lvl="0" indent="0" algn="just" defTabSz="914400" rtl="0" eaLnBrk="0" fontAlgn="base" latinLnBrk="0" hangingPunct="0">
              <a:lnSpc>
                <a:spcPct val="100000"/>
              </a:lnSpc>
              <a:spcBef>
                <a:spcPct val="0"/>
              </a:spcBef>
              <a:spcAft>
                <a:spcPct val="0"/>
              </a:spcAft>
              <a:buClrTx/>
              <a:buSzTx/>
              <a:buNone/>
              <a:tabLst/>
            </a:pPr>
            <a:r>
              <a:rPr kumimoji="0" lang="fr-FR" altLang="fr-FR"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.Correction des </a:t>
            </a:r>
            <a:r>
              <a:rPr lang="fr-FR" altLang="fr-FR" sz="1800" dirty="0">
                <a:latin typeface="Times New Roman" panose="02020603050405020304" pitchFamily="18" charset="0"/>
                <a:cs typeface="Times New Roman" panose="02020603050405020304" pitchFamily="18" charset="0"/>
              </a:rPr>
              <a:t>Liens HTML</a:t>
            </a:r>
            <a:endParaRPr kumimoji="0" lang="fr-FR" altLang="fr-FR"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endParaRPr kumimoji="0" lang="fr-FR" altLang="fr-FR"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endParaRPr kumimoji="0" lang="fr-FR" altLang="fr-FR"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82587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FA8760-1091-4653-B14A-97C7A0171642}"/>
              </a:ext>
            </a:extLst>
          </p:cNvPr>
          <p:cNvSpPr>
            <a:spLocks noGrp="1"/>
          </p:cNvSpPr>
          <p:nvPr>
            <p:ph type="title"/>
          </p:nvPr>
        </p:nvSpPr>
        <p:spPr/>
        <p:txBody>
          <a:bodyPr>
            <a:normAutofit fontScale="90000"/>
          </a:bodyPr>
          <a:lstStyle/>
          <a:p>
            <a:pPr algn="ctr"/>
            <a:r>
              <a:rPr lang="en-US" sz="3600" dirty="0">
                <a:latin typeface="Arial Black" panose="020B0A04020102020204" pitchFamily="34" charset="0"/>
              </a:rPr>
              <a:t>RESOURCES ET DOCUMENTATION</a:t>
            </a:r>
            <a:br>
              <a:rPr lang="en-US" sz="3600" dirty="0">
                <a:latin typeface="Arial Black" panose="020B0A04020102020204" pitchFamily="34" charset="0"/>
              </a:rPr>
            </a:br>
            <a:r>
              <a:rPr lang="en-US" sz="3600" dirty="0">
                <a:latin typeface="Arial Black" panose="020B0A04020102020204" pitchFamily="34" charset="0"/>
              </a:rPr>
              <a:t> UTILISEES</a:t>
            </a:r>
            <a:endParaRPr lang="fr-FR" sz="3600" dirty="0">
              <a:latin typeface="Arial Black" panose="020B0A04020102020204" pitchFamily="34" charset="0"/>
            </a:endParaRPr>
          </a:p>
        </p:txBody>
      </p:sp>
      <p:sp>
        <p:nvSpPr>
          <p:cNvPr id="3" name="Espace réservé du contenu 2">
            <a:extLst>
              <a:ext uri="{FF2B5EF4-FFF2-40B4-BE49-F238E27FC236}">
                <a16:creationId xmlns:a16="http://schemas.microsoft.com/office/drawing/2014/main" id="{4794F903-71C8-4BA9-957A-00EE6211EA4E}"/>
              </a:ext>
            </a:extLst>
          </p:cNvPr>
          <p:cNvSpPr>
            <a:spLocks noGrp="1"/>
          </p:cNvSpPr>
          <p:nvPr>
            <p:ph idx="1"/>
          </p:nvPr>
        </p:nvSpPr>
        <p:spPr>
          <a:xfrm>
            <a:off x="1210279" y="2218932"/>
            <a:ext cx="9603275" cy="3450613"/>
          </a:xfrm>
        </p:spPr>
        <p:txBody>
          <a:bodyPr>
            <a:normAutofit/>
          </a:bodyPr>
          <a:lstStyle/>
          <a:p>
            <a:r>
              <a:rPr lang="fr-FR" sz="2800" dirty="0">
                <a:latin typeface="Times New Roman" panose="02020603050405020304" pitchFamily="18" charset="0"/>
                <a:cs typeface="Times New Roman" panose="02020603050405020304" pitchFamily="18" charset="0"/>
              </a:rPr>
              <a:t>“Pour réaliser AfriTalent, j’ai utilisé MDN pour apprendre HTML, CSS et JavaScript, Bootstrap pour créer une interface responsive, Google Fonts pour la typographie, GitHub pour gérer les versions, GitHub Pages pour le déploiement et W3C Validator pour vérifier et corriger les erreurs du code.”</a:t>
            </a:r>
          </a:p>
        </p:txBody>
      </p:sp>
    </p:spTree>
    <p:extLst>
      <p:ext uri="{BB962C8B-B14F-4D97-AF65-F5344CB8AC3E}">
        <p14:creationId xmlns:p14="http://schemas.microsoft.com/office/powerpoint/2010/main" val="263038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E23881-A07C-4412-B0D7-175696A0B674}"/>
              </a:ext>
            </a:extLst>
          </p:cNvPr>
          <p:cNvSpPr>
            <a:spLocks noGrp="1"/>
          </p:cNvSpPr>
          <p:nvPr>
            <p:ph type="title"/>
          </p:nvPr>
        </p:nvSpPr>
        <p:spPr/>
        <p:txBody>
          <a:bodyPr>
            <a:normAutofit/>
          </a:bodyPr>
          <a:lstStyle/>
          <a:p>
            <a:pPr algn="ctr"/>
            <a:r>
              <a:rPr lang="en-US" sz="4400" dirty="0"/>
              <a:t>DEMONSTRATION LIVE DU SITE</a:t>
            </a:r>
            <a:endParaRPr lang="fr-FR" sz="4400" dirty="0"/>
          </a:p>
        </p:txBody>
      </p:sp>
      <p:sp>
        <p:nvSpPr>
          <p:cNvPr id="3" name="Espace réservé du contenu 2">
            <a:extLst>
              <a:ext uri="{FF2B5EF4-FFF2-40B4-BE49-F238E27FC236}">
                <a16:creationId xmlns:a16="http://schemas.microsoft.com/office/drawing/2014/main" id="{86CA909E-7D92-47B0-ACC3-39B472521DD6}"/>
              </a:ext>
            </a:extLst>
          </p:cNvPr>
          <p:cNvSpPr>
            <a:spLocks noGrp="1"/>
          </p:cNvSpPr>
          <p:nvPr>
            <p:ph idx="1"/>
          </p:nvPr>
        </p:nvSpPr>
        <p:spPr/>
        <p:txBody>
          <a:bodyPr>
            <a:normAutofit/>
          </a:bodyPr>
          <a:lstStyle/>
          <a:p>
            <a:r>
              <a:rPr lang="fr-FR" sz="2800" dirty="0">
                <a:latin typeface="Times New Roman" panose="02020603050405020304" pitchFamily="18" charset="0"/>
                <a:cs typeface="Times New Roman" panose="02020603050405020304" pitchFamily="18" charset="0"/>
              </a:rPr>
              <a:t>“AfriTalent est une plateforme web responsive développée avec HTML, CSS, JavaScript et Bootstrap. Le projet met en relation des freelances africains et des entreprises tout en intégrant plusieurs fonctionnalités dynamiques pour améliorer l’expérience utilisateur.”</a:t>
            </a:r>
          </a:p>
        </p:txBody>
      </p:sp>
    </p:spTree>
    <p:extLst>
      <p:ext uri="{BB962C8B-B14F-4D97-AF65-F5344CB8AC3E}">
        <p14:creationId xmlns:p14="http://schemas.microsoft.com/office/powerpoint/2010/main" val="29262430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4EE8E0-BBAA-498E-A8D2-9B7294B0076B}"/>
              </a:ext>
            </a:extLst>
          </p:cNvPr>
          <p:cNvSpPr>
            <a:spLocks noGrp="1"/>
          </p:cNvSpPr>
          <p:nvPr>
            <p:ph type="title"/>
          </p:nvPr>
        </p:nvSpPr>
        <p:spPr/>
        <p:txBody>
          <a:bodyPr>
            <a:normAutofit/>
          </a:bodyPr>
          <a:lstStyle/>
          <a:p>
            <a:pPr algn="ctr"/>
            <a:r>
              <a:rPr lang="en-US" sz="6600" dirty="0"/>
              <a:t>CONCLUSION</a:t>
            </a:r>
            <a:endParaRPr lang="fr-FR" sz="6600" dirty="0"/>
          </a:p>
        </p:txBody>
      </p:sp>
      <p:sp>
        <p:nvSpPr>
          <p:cNvPr id="3" name="Espace réservé du contenu 2">
            <a:extLst>
              <a:ext uri="{FF2B5EF4-FFF2-40B4-BE49-F238E27FC236}">
                <a16:creationId xmlns:a16="http://schemas.microsoft.com/office/drawing/2014/main" id="{F4F282FD-C7CB-48E9-B748-B8921D85B184}"/>
              </a:ext>
            </a:extLst>
          </p:cNvPr>
          <p:cNvSpPr>
            <a:spLocks noGrp="1"/>
          </p:cNvSpPr>
          <p:nvPr>
            <p:ph idx="1"/>
          </p:nvPr>
        </p:nvSpPr>
        <p:spPr>
          <a:xfrm>
            <a:off x="1451579" y="2015732"/>
            <a:ext cx="9603275" cy="5794768"/>
          </a:xfrm>
        </p:spPr>
        <p:txBody>
          <a:bodyPr>
            <a:normAutofit/>
          </a:bodyPr>
          <a:lstStyle/>
          <a:p>
            <a:r>
              <a:rPr lang="fr-FR" sz="2800" dirty="0">
                <a:latin typeface="Times New Roman" panose="02020603050405020304" pitchFamily="18" charset="0"/>
                <a:cs typeface="Times New Roman" panose="02020603050405020304" pitchFamily="18" charset="0"/>
              </a:rPr>
              <a:t>“AfriTalent est une première version fonctionnelle de plateforme web dédiée au freelancing en Afrique. À l’avenir, l’ajout d’une base de données, d’un système de connexion et d’un paiement en ligne permettrait d’en faire une solution complète et utilisable en conditions réelles.”</a:t>
            </a:r>
          </a:p>
        </p:txBody>
      </p:sp>
    </p:spTree>
    <p:extLst>
      <p:ext uri="{BB962C8B-B14F-4D97-AF65-F5344CB8AC3E}">
        <p14:creationId xmlns:p14="http://schemas.microsoft.com/office/powerpoint/2010/main" val="2139626193"/>
      </p:ext>
    </p:extLst>
  </p:cSld>
  <p:clrMapOvr>
    <a:masterClrMapping/>
  </p:clrMapOvr>
</p:sld>
</file>

<file path=ppt/theme/theme1.xml><?xml version="1.0" encoding="utf-8"?>
<a:theme xmlns:a="http://schemas.openxmlformats.org/drawingml/2006/main" name="Galerie">
  <a:themeElements>
    <a:clrScheme name="Galerie">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erie">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erie">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3341</TotalTime>
  <Words>662</Words>
  <Application>Microsoft Office PowerPoint</Application>
  <PresentationFormat>Grand écran</PresentationFormat>
  <Paragraphs>46</Paragraphs>
  <Slides>11</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11</vt:i4>
      </vt:variant>
    </vt:vector>
  </HeadingPairs>
  <TitlesOfParts>
    <vt:vector size="16" baseType="lpstr">
      <vt:lpstr>Arial</vt:lpstr>
      <vt:lpstr>Arial Black</vt:lpstr>
      <vt:lpstr>Gill Sans MT</vt:lpstr>
      <vt:lpstr>Times New Roman</vt:lpstr>
      <vt:lpstr>Galerie</vt:lpstr>
      <vt:lpstr>.AfriTalent</vt:lpstr>
      <vt:lpstr>.SOMMAIRE</vt:lpstr>
      <vt:lpstr>Presentation du PROJET</vt:lpstr>
      <vt:lpstr>CHOIX DE DESIGN</vt:lpstr>
      <vt:lpstr>              ARCHITECTURE</vt:lpstr>
      <vt:lpstr>GITHUB</vt:lpstr>
      <vt:lpstr>POINT TECHNIQUE</vt:lpstr>
      <vt:lpstr> DIFFiCULTEs RENCONTRE ET SOLUTIONs</vt:lpstr>
      <vt:lpstr>RESOURCES ET DOCUMENTATION  UTILISEES</vt:lpstr>
      <vt:lpstr>DEMONSTRATION LIVE DU SITE</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Prof</dc:creator>
  <cp:lastModifiedBy>Prof</cp:lastModifiedBy>
  <cp:revision>22</cp:revision>
  <dcterms:created xsi:type="dcterms:W3CDTF">2026-06-17T09:44:31Z</dcterms:created>
  <dcterms:modified xsi:type="dcterms:W3CDTF">2026-06-19T17:25:34Z</dcterms:modified>
</cp:coreProperties>
</file>